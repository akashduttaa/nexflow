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35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84425" y="17526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lIns="0" tIns="0" rIns="0" bIns="0" anchor="ctr"/>
          <a:lstStyle/>
          <a:p>
            <a:r>
              <a:rPr sz="3000" b="1" dirty="0" err="1">
                <a:solidFill>
                  <a:srgbClr val="173F70"/>
                </a:solidFill>
                <a:latin typeface="Georgia"/>
              </a:rPr>
              <a:t>NexFlow</a:t>
            </a:r>
            <a:endParaRPr sz="3000" b="1" dirty="0">
              <a:solidFill>
                <a:srgbClr val="173F70"/>
              </a:solidFill>
              <a:latin typeface="Georgia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/>
            <a:r>
              <a:rPr sz="2600" b="1" dirty="0">
                <a:solidFill>
                  <a:srgbClr val="1E4775"/>
                </a:solidFill>
                <a:latin typeface="Aptos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4" y="1500"/>
            <a:ext cx="2099552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2920" y="2011680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173F70"/>
                </a:solidFill>
                <a:latin typeface="Aptos"/>
              </a:rPr>
              <a:t>Problem Statement ID  —  SIH26205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2481679"/>
            <a:ext cx="5623560" cy="50475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lang="en-US" sz="1400" b="1" i="0" dirty="0">
                <a:solidFill>
                  <a:srgbClr val="1E293B"/>
                </a:solidFill>
                <a:latin typeface="Aptos"/>
              </a:rPr>
              <a:t>Problem Statement Title : </a:t>
            </a:r>
            <a:r>
              <a:rPr sz="1400" b="1" i="0" dirty="0">
                <a:solidFill>
                  <a:srgbClr val="1E293B"/>
                </a:solidFill>
                <a:latin typeface="Aptos"/>
              </a:rPr>
              <a:t>Student Innovation: address growing pressure on city resources, transport networks &amp; logistics 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080611"/>
            <a:ext cx="5577840" cy="50475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Aptos"/>
              </a:rPr>
              <a:t>Theme  —  Transportation &amp; Logistics    </a:t>
            </a:r>
            <a:br>
              <a:rPr lang="en-US" sz="1400" b="1" i="0" dirty="0">
                <a:solidFill>
                  <a:srgbClr val="1E293B"/>
                </a:solidFill>
                <a:latin typeface="Aptos"/>
              </a:rPr>
            </a:br>
            <a:r>
              <a:rPr lang="en-US" sz="1400" b="1" i="0" dirty="0">
                <a:solidFill>
                  <a:srgbClr val="1E293B"/>
                </a:solidFill>
                <a:latin typeface="Aptos"/>
              </a:rPr>
              <a:t>PS </a:t>
            </a:r>
            <a:r>
              <a:rPr lang="en-IN" sz="1400" b="1" i="0" dirty="0">
                <a:solidFill>
                  <a:srgbClr val="1E293B"/>
                </a:solidFill>
                <a:latin typeface="Aptos"/>
              </a:rPr>
              <a:t>C</a:t>
            </a:r>
            <a:r>
              <a:rPr sz="1400" b="1" i="0" dirty="0" err="1">
                <a:solidFill>
                  <a:srgbClr val="1E293B"/>
                </a:solidFill>
                <a:latin typeface="Aptos"/>
              </a:rPr>
              <a:t>ategory</a:t>
            </a:r>
            <a:r>
              <a:rPr sz="1400" b="1" i="0" dirty="0">
                <a:solidFill>
                  <a:srgbClr val="1E293B"/>
                </a:solidFill>
                <a:latin typeface="Aptos"/>
              </a:rPr>
              <a:t>  —  Software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455515"/>
            <a:ext cx="5577840" cy="50475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Aptos"/>
              </a:rPr>
              <a:t>Team ID  —  __________     </a:t>
            </a:r>
            <a:br>
              <a:rPr lang="en-US" sz="1400" b="1" i="0" dirty="0">
                <a:solidFill>
                  <a:srgbClr val="1E293B"/>
                </a:solidFill>
                <a:latin typeface="Aptos"/>
              </a:rPr>
            </a:br>
            <a:r>
              <a:rPr sz="1400" b="1" i="0" dirty="0">
                <a:solidFill>
                  <a:srgbClr val="1E293B"/>
                </a:solidFill>
                <a:latin typeface="Aptos"/>
              </a:rPr>
              <a:t>Team Name  —  NexGen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005072"/>
            <a:ext cx="4946409" cy="475488"/>
          </a:xfrm>
          <a:prstGeom prst="roundRect">
            <a:avLst/>
          </a:prstGeom>
          <a:solidFill>
            <a:srgbClr val="FFF3E6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300" b="1">
                <a:solidFill>
                  <a:srgbClr val="173F70"/>
                </a:solidFill>
                <a:latin typeface="Aptos"/>
              </a:rPr>
              <a:t>PILOT CONTEXT  •  KOLKATA BURRABAZAR / POSTA TRADE DISTRICT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590288"/>
            <a:ext cx="5806440" cy="59436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173F70"/>
                </a:solidFill>
                <a:latin typeface="Aptos"/>
              </a:rPr>
              <a:t>The urban-freight problem is not just a routing problem.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19" y="5677653"/>
            <a:ext cx="7317607" cy="22775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 dirty="0">
                <a:solidFill>
                  <a:srgbClr val="1E293B"/>
                </a:solidFill>
                <a:latin typeface="Aptos"/>
              </a:rPr>
              <a:t>A truck can take the fastest road and still lose time because the loading bay is occupied.</a:t>
            </a:r>
            <a:r>
              <a:rPr lang="en-US" sz="1000" b="1" i="0" dirty="0">
                <a:solidFill>
                  <a:srgbClr val="1E293B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rgbClr val="1E293B"/>
                </a:solidFill>
                <a:latin typeface="Aptos"/>
              </a:rPr>
              <a:t>NexFlow</a:t>
            </a:r>
            <a:r>
              <a:rPr sz="1000" b="1" i="0" dirty="0">
                <a:solidFill>
                  <a:srgbClr val="1E293B"/>
                </a:solidFill>
                <a:latin typeface="Aptos"/>
              </a:rPr>
              <a:t> optimizes the road + the curb together.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27250" y="5985308"/>
            <a:ext cx="4526280" cy="658368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700" b="1" dirty="0">
                <a:solidFill>
                  <a:srgbClr val="173F70"/>
                </a:solidFill>
                <a:latin typeface="Aptos"/>
              </a:rPr>
              <a:t>NEXFLOW  •  URBAN FREIGHT INTELLIGENCE LAYER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2280" y="6113324"/>
            <a:ext cx="1417320" cy="530352"/>
          </a:xfrm>
          <a:prstGeom prst="roundRect">
            <a:avLst/>
          </a:prstGeom>
          <a:solidFill>
            <a:srgbClr val="1976B9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26350" y="6113324"/>
            <a:ext cx="1417320" cy="530352"/>
          </a:xfrm>
          <a:prstGeom prst="roundRect">
            <a:avLst/>
          </a:prstGeom>
          <a:solidFill>
            <a:srgbClr val="2F9B66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ALLOCATE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7715" y="6103226"/>
            <a:ext cx="1417320" cy="530352"/>
          </a:xfrm>
          <a:prstGeom prst="roundRect">
            <a:avLst/>
          </a:prstGeom>
          <a:solidFill>
            <a:srgbClr val="F28C28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REROUTE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056" y="5166132"/>
            <a:ext cx="5600617" cy="2585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 dirty="0">
                <a:solidFill>
                  <a:srgbClr val="526273"/>
                </a:solidFill>
                <a:latin typeface="Aptos"/>
              </a:rPr>
              <a:t>Freight pressure → curb access → live fleet dispatch → measurable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00200" y="182880"/>
            <a:ext cx="8183879" cy="777240"/>
          </a:xfrm>
        </p:spPr>
        <p:txBody>
          <a:bodyPr wrap="square" lIns="0" tIns="0" rIns="0" bIns="0" anchor="ctr"/>
          <a:lstStyle/>
          <a:p>
            <a:r>
              <a:rPr sz="2700" b="1">
                <a:solidFill>
                  <a:srgbClr val="173F70"/>
                </a:solidFill>
                <a:latin typeface="Georgia"/>
              </a:rPr>
              <a:t>PROPOSED SOLUTION &amp; OPTIMIZATION LOGIC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900" b="0">
                <a:solidFill>
                  <a:srgbClr val="FFFFFF"/>
                </a:solidFill>
                <a:latin typeface="Aptos"/>
              </a:rPr>
              <a:t>Smart India Hackathon 2026 • NexGen • NexFlow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 sz="1600" b="1">
                <a:solidFill>
                  <a:srgbClr val="144070"/>
                </a:solidFill>
                <a:latin typeface="Aptos"/>
              </a:defRPr>
            </a:pPr>
            <a:r>
              <a:rPr sz="1250"/>
              <a:t>NexGen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02920" y="1216152"/>
            <a:ext cx="5486400" cy="566928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200" b="1">
                <a:solidFill>
                  <a:srgbClr val="173F70"/>
                </a:solidFill>
                <a:latin typeface="Aptos"/>
              </a:rPr>
              <a:t>CORE PITCH  •  URBAN FREIGHT BOTTLENECKS + LOADING-BAY DYNAMICS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75488" y="204693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Aptos"/>
              </a:rPr>
              <a:t>Predict freight pressure → jointly assign vehicle + route + loading-bay slot before curb demand peaks.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72200" y="1216152"/>
            <a:ext cx="54406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6382512" y="133502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526273"/>
                </a:solidFill>
                <a:latin typeface="Aptos"/>
              </a:rPr>
              <a:t>STANDARD NAVIGATION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9098280" y="1261872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73F70"/>
                </a:solidFill>
                <a:latin typeface="Aptos"/>
              </a:rPr>
              <a:t>NEXFLOW</a:t>
            </a:r>
          </a:p>
        </p:txBody>
      </p:sp>
      <p:cxnSp>
        <p:nvCxnSpPr>
          <p:cNvPr id="15367" name="Connector 15366"/>
          <p:cNvCxnSpPr/>
          <p:nvPr/>
        </p:nvCxnSpPr>
        <p:spPr>
          <a:xfrm>
            <a:off x="8887968" y="1344168"/>
            <a:ext cx="0" cy="0"/>
          </a:xfrm>
          <a:prstGeom prst="line">
            <a:avLst/>
          </a:prstGeom>
          <a:ln w="12700">
            <a:solidFill>
              <a:srgbClr val="DC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8" name="TextBox 15367"/>
          <p:cNvSpPr txBox="1"/>
          <p:nvPr/>
        </p:nvSpPr>
        <p:spPr>
          <a:xfrm>
            <a:off x="6355080" y="1700784"/>
            <a:ext cx="2423160" cy="502920"/>
          </a:xfrm>
          <a:prstGeom prst="rect">
            <a:avLst/>
          </a:prstGeom>
          <a:solidFill>
            <a:srgbClr val="FFF3E6"/>
          </a:solidFill>
          <a:ln w="12700">
            <a:solidFill>
              <a:srgbClr val="F28C28"/>
            </a:solidFill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ptos"/>
              </a:rPr>
              <a:t>Point-to-point
fast path for one trip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8988552" y="1700784"/>
            <a:ext cx="2331720" cy="457200"/>
          </a:xfrm>
          <a:prstGeom prst="rect">
            <a:avLst/>
          </a:prstGeom>
          <a:solidFill>
            <a:srgbClr val="EAF7F0"/>
          </a:solidFill>
          <a:ln w="12700">
            <a:solidFill>
              <a:srgbClr val="2F9B66"/>
            </a:solidFill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73F70"/>
                </a:solidFill>
                <a:latin typeface="Aptos"/>
              </a:rPr>
              <a:t>Joint route + curb allocation
across fleet and bay capacity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502920" y="248716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73F70"/>
                </a:solidFill>
                <a:latin typeface="Aptos"/>
              </a:rPr>
              <a:t>FOUR-STEP EXECUTION FLOW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502920" y="2788920"/>
            <a:ext cx="2331720" cy="9509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Rounded Rectangle 15371"/>
          <p:cNvSpPr/>
          <p:nvPr/>
        </p:nvSpPr>
        <p:spPr>
          <a:xfrm>
            <a:off x="612648" y="2926080"/>
            <a:ext cx="420624" cy="420624"/>
          </a:xfrm>
          <a:prstGeom prst="roundRect">
            <a:avLst/>
          </a:prstGeom>
          <a:solidFill>
            <a:srgbClr val="F28C28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1124712" y="2907792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73F70"/>
                </a:solidFill>
                <a:latin typeface="Aptos"/>
              </a:rPr>
              <a:t>INCIDENT DETECTION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1124712" y="3155883"/>
            <a:ext cx="1572768" cy="3816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closure • queue • bay conflict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2880360" y="3099816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F28C28"/>
                </a:solidFill>
                <a:latin typeface="Aptos"/>
              </a:rPr>
              <a:t>→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246120" y="2788920"/>
            <a:ext cx="2331720" cy="9509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Rounded Rectangle 15376"/>
          <p:cNvSpPr/>
          <p:nvPr/>
        </p:nvSpPr>
        <p:spPr>
          <a:xfrm>
            <a:off x="3355848" y="2926080"/>
            <a:ext cx="420624" cy="420624"/>
          </a:xfrm>
          <a:prstGeom prst="roundRect">
            <a:avLst/>
          </a:prstGeom>
          <a:solidFill>
            <a:srgbClr val="2F9B66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3867911" y="2907792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73F70"/>
                </a:solidFill>
                <a:latin typeface="Aptos"/>
              </a:rPr>
              <a:t>IMPACT PREDICTION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3867911" y="3155883"/>
            <a:ext cx="1572768" cy="3816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 err="1">
                <a:solidFill>
                  <a:srgbClr val="526273"/>
                </a:solidFill>
                <a:latin typeface="Aptos"/>
              </a:rPr>
              <a:t>XGBoost</a:t>
            </a:r>
            <a:r>
              <a:rPr sz="1000" b="0" i="0" dirty="0">
                <a:solidFill>
                  <a:srgbClr val="526273"/>
                </a:solidFill>
                <a:latin typeface="Aptos"/>
              </a:rPr>
              <a:t>: demand • ETA • traffic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623560" y="3099816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2F9B66"/>
                </a:solidFill>
                <a:latin typeface="Aptos"/>
              </a:rPr>
              <a:t>→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5989320" y="2788920"/>
            <a:ext cx="2331720" cy="9509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2" name="Rounded Rectangle 15381"/>
          <p:cNvSpPr/>
          <p:nvPr/>
        </p:nvSpPr>
        <p:spPr>
          <a:xfrm>
            <a:off x="6099048" y="2926080"/>
            <a:ext cx="420624" cy="420624"/>
          </a:xfrm>
          <a:prstGeom prst="roundRect">
            <a:avLst/>
          </a:prstGeom>
          <a:solidFill>
            <a:srgbClr val="7A5AA6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6611112" y="2907792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73F70"/>
                </a:solidFill>
                <a:latin typeface="Aptos"/>
              </a:rPr>
              <a:t>CANDIDATE GENERATION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6611112" y="3232826"/>
            <a:ext cx="1572768" cy="22775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OSRM routes • feasible bays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8366760" y="3099816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7A5AA6"/>
                </a:solidFill>
                <a:latin typeface="Aptos"/>
              </a:rPr>
              <a:t>→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8732520" y="2788920"/>
            <a:ext cx="2331720" cy="9509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7" name="Rounded Rectangle 15386"/>
          <p:cNvSpPr/>
          <p:nvPr/>
        </p:nvSpPr>
        <p:spPr>
          <a:xfrm>
            <a:off x="8842248" y="2926080"/>
            <a:ext cx="420624" cy="420624"/>
          </a:xfrm>
          <a:prstGeom prst="roundRect">
            <a:avLst/>
          </a:prstGeom>
          <a:solidFill>
            <a:srgbClr val="1976B9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9354312" y="2907792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73F70"/>
                </a:solidFill>
                <a:latin typeface="Aptos"/>
              </a:rPr>
              <a:t>LIVE DISPATCH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9354312" y="3155883"/>
            <a:ext cx="1572768" cy="3816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CP-SAT solve • Socket.IO reroute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502920" y="4041648"/>
            <a:ext cx="5074920" cy="1627632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1" name="TextBox 15390"/>
          <p:cNvSpPr txBox="1"/>
          <p:nvPr/>
        </p:nvSpPr>
        <p:spPr>
          <a:xfrm>
            <a:off x="713232" y="4187952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73F70"/>
                </a:solidFill>
                <a:latin typeface="Aptos"/>
              </a:rPr>
              <a:t>INTUITIVE COST MINIMIZATION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713232" y="4471416"/>
            <a:ext cx="4645152" cy="58521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ptos"/>
              </a:rPr>
              <a:t>MINIMIZE
Delivery Delay + Curb Waiting + Late Penalties + Unnecessary Distance + Rerouting Cost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713232" y="5114148"/>
            <a:ext cx="4645152" cy="397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50" b="1" i="0" dirty="0">
                <a:solidFill>
                  <a:srgbClr val="526273"/>
                </a:solidFill>
                <a:latin typeface="Aptos"/>
              </a:rPr>
              <a:t>SUBJECT TO  •  vehicle capacity  •  delivery windows  •  bay exclusivity  •  road closures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5806440" y="4041648"/>
            <a:ext cx="5806440" cy="1627632"/>
          </a:xfrm>
          <a:prstGeom prst="roundRect">
            <a:avLst/>
          </a:prstGeom>
          <a:solidFill>
            <a:srgbClr val="EAF7F0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5" name="TextBox 15394"/>
          <p:cNvSpPr txBox="1"/>
          <p:nvPr/>
        </p:nvSpPr>
        <p:spPr>
          <a:xfrm>
            <a:off x="6053328" y="418795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73F70"/>
                </a:solidFill>
                <a:latin typeface="Aptos"/>
              </a:rPr>
              <a:t>LIVE DEMO  •  INTERACTIVE SIMULATION ENGINE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6053328" y="4480560"/>
            <a:ext cx="5257800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ptos"/>
              </a:rPr>
              <a:t>Simulated road closure on a real OSM segment
→ OSRM blocks segment → CP-SAT re-solves fleet + bay slot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6053328" y="5065776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2F9B66"/>
                </a:solidFill>
                <a:latin typeface="Aptos"/>
              </a:rPr>
              <a:t>Socket.IO animates the vehicle fleet reroute on the map in seconds.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512064" y="5867748"/>
            <a:ext cx="10972800" cy="2431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 dirty="0">
                <a:solidFill>
                  <a:srgbClr val="526273"/>
                </a:solidFill>
                <a:latin typeface="Aptos"/>
              </a:rPr>
              <a:t>MVP solver: OR-Tools CP-SAT rolling-horizon 0–1 assignment model  |  Full mathematical MILP formulation reserved for Q&amp;A footer on Slide 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12648" y="45720"/>
            <a:ext cx="9144000" cy="822960"/>
          </a:xfrm>
        </p:spPr>
        <p:txBody>
          <a:bodyPr wrap="square" lIns="0" tIns="0" rIns="0" bIns="0" anchor="ctr"/>
          <a:lstStyle/>
          <a:p>
            <a:r>
              <a:rPr sz="2700" b="1">
                <a:solidFill>
                  <a:srgbClr val="173F70"/>
                </a:solidFill>
                <a:latin typeface="Georgia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900" b="0">
                <a:solidFill>
                  <a:srgbClr val="FFFFFF"/>
                </a:solidFill>
                <a:latin typeface="Aptos"/>
              </a:rPr>
              <a:t>Smart India Hackathon 2026 • NexGen • NexFlow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C959745-1ED6-9DDC-EF43-377A996D12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 sz="1600" b="1">
                <a:solidFill>
                  <a:srgbClr val="144070"/>
                </a:solidFill>
                <a:latin typeface="Aptos"/>
              </a:defRPr>
            </a:pPr>
            <a:r>
              <a:rPr sz="1250"/>
              <a:t>NexGen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3C4C5A-06AD-4E4A-2949-B0BDA75A0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7818120" y="1124712"/>
            <a:ext cx="1234440" cy="365760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900" b="1">
                <a:solidFill>
                  <a:srgbClr val="173F70"/>
                </a:solidFill>
                <a:latin typeface="Aptos"/>
              </a:rPr>
              <a:t>PM GatiShakti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9125712" y="1124712"/>
            <a:ext cx="1417320" cy="365760"/>
          </a:xfrm>
          <a:prstGeom prst="roundRect">
            <a:avLst/>
          </a:prstGeom>
          <a:solidFill>
            <a:srgbClr val="EAF7F0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19" b="1">
                <a:solidFill>
                  <a:srgbClr val="173F70"/>
                </a:solidFill>
                <a:latin typeface="Aptos"/>
              </a:rPr>
              <a:t>National Logistics Policy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0607040" y="1124712"/>
            <a:ext cx="1005840" cy="365760"/>
          </a:xfrm>
          <a:prstGeom prst="roundRect">
            <a:avLst/>
          </a:prstGeom>
          <a:solidFill>
            <a:srgbClr val="FFF3E6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900" b="1">
                <a:solidFill>
                  <a:srgbClr val="173F70"/>
                </a:solidFill>
                <a:latin typeface="Aptos"/>
              </a:rPr>
              <a:t>ULIP-ready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1161288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73F70"/>
                </a:solidFill>
                <a:latin typeface="Aptos"/>
              </a:rPr>
              <a:t>GOVERNMENT-READY ARCHITECTURE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1627632"/>
            <a:ext cx="11109960" cy="502920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713232" y="1700784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1" i="0">
                <a:solidFill>
                  <a:srgbClr val="1976B9"/>
                </a:solidFill>
                <a:latin typeface="Aptos"/>
              </a:rPr>
              <a:t>1  DATA INGESTION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596896" y="1700784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1" i="0">
                <a:solidFill>
                  <a:srgbClr val="1E293B"/>
                </a:solidFill>
                <a:latin typeface="Aptos"/>
              </a:rPr>
              <a:t>OSM • GTFS • Weather • GPS • Orders • Incidents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532120" y="211226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526273"/>
                </a:solidFill>
                <a:latin typeface="Aptos"/>
              </a:rPr>
              <a:t>↓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2231136"/>
            <a:ext cx="11109960" cy="502920"/>
          </a:xfrm>
          <a:prstGeom prst="roundRect">
            <a:avLst/>
          </a:prstGeom>
          <a:solidFill>
            <a:srgbClr val="EAF7F0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713232" y="230428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1" i="0">
                <a:solidFill>
                  <a:srgbClr val="2F9B66"/>
                </a:solidFill>
                <a:latin typeface="Aptos"/>
              </a:rPr>
              <a:t>2  DATA &amp; STATE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596896" y="230428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1" i="0">
                <a:solidFill>
                  <a:srgbClr val="1E293B"/>
                </a:solidFill>
                <a:latin typeface="Aptos"/>
              </a:rPr>
              <a:t>PostgreSQL • PostGIS • Redis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532120" y="271576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526273"/>
                </a:solidFill>
                <a:latin typeface="Aptos"/>
              </a:rPr>
              <a:t>↓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2920" y="2834640"/>
            <a:ext cx="11109960" cy="502920"/>
          </a:xfrm>
          <a:prstGeom prst="roundRect">
            <a:avLst/>
          </a:prstGeom>
          <a:solidFill>
            <a:srgbClr val="F2ECF8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713232" y="290779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1" i="0">
                <a:solidFill>
                  <a:srgbClr val="7A5AA6"/>
                </a:solidFill>
                <a:latin typeface="Aptos"/>
              </a:rPr>
              <a:t>3  AI + OPTIMIZATION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596896" y="29077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1" i="0">
                <a:solidFill>
                  <a:srgbClr val="1E293B"/>
                </a:solidFill>
                <a:latin typeface="Aptos"/>
              </a:rPr>
              <a:t>XGBoost • CP-SAT • OSRM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532120" y="331927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526273"/>
                </a:solidFill>
                <a:latin typeface="Aptos"/>
              </a:rPr>
              <a:t>↓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02920" y="3438144"/>
            <a:ext cx="11109960" cy="502920"/>
          </a:xfrm>
          <a:prstGeom prst="roundRect">
            <a:avLst/>
          </a:prstGeom>
          <a:solidFill>
            <a:srgbClr val="FFF3E6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713232" y="351129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1" i="0">
                <a:solidFill>
                  <a:srgbClr val="F28C28"/>
                </a:solidFill>
                <a:latin typeface="Aptos"/>
              </a:rPr>
              <a:t>4  API + DISPATCH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596896" y="3511296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1" i="0">
                <a:solidFill>
                  <a:srgbClr val="1E293B"/>
                </a:solidFill>
                <a:latin typeface="Aptos"/>
              </a:rPr>
              <a:t>FastAPI • Node.js • Socket.IO • React • Driver App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02920" y="4169663"/>
            <a:ext cx="672084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80" b="1" i="0">
                <a:solidFill>
                  <a:srgbClr val="173F70"/>
                </a:solidFill>
                <a:latin typeface="Aptos"/>
              </a:rPr>
              <a:t>DFD — LEVEL 1  •  DATA → PREDICTION → OPTIMIZATION → DISPATCH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02920" y="4553712"/>
            <a:ext cx="12344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173F70"/>
                </a:solidFill>
                <a:latin typeface="Aptos"/>
              </a:rPr>
              <a:t>INPUTS
Orders • GPS
Weather • Incidents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2020824" y="4526280"/>
            <a:ext cx="118872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50" b="1">
                <a:solidFill>
                  <a:srgbClr val="1976B9"/>
                </a:solidFill>
                <a:latin typeface="Aptos"/>
              </a:rPr>
              <a:t>P1 INGEST
validate + map-match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493008" y="4526280"/>
            <a:ext cx="118872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50" b="1">
                <a:solidFill>
                  <a:srgbClr val="2F9B66"/>
                </a:solidFill>
                <a:latin typeface="Aptos"/>
              </a:rPr>
              <a:t>P2 PREDICT
XGBoost
demand • ETA • traffic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965192" y="4526280"/>
            <a:ext cx="118872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50" b="1">
                <a:solidFill>
                  <a:srgbClr val="7A5AA6"/>
                </a:solidFill>
                <a:latin typeface="Aptos"/>
              </a:rPr>
              <a:t>P3 OPTIMIZE
CP-SAT
vehicle + bay-slot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437375" y="4526280"/>
            <a:ext cx="118872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50" b="1">
                <a:solidFill>
                  <a:srgbClr val="F28C28"/>
                </a:solidFill>
                <a:latin typeface="Aptos"/>
              </a:rPr>
              <a:t>P4 DISPATCH
route + slot
Socket.IO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769363" y="4727448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1976B9"/>
                </a:solidFill>
                <a:latin typeface="Aptos"/>
              </a:rPr>
              <a:t>→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3241548" y="4727448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2F9B66"/>
                </a:solidFill>
                <a:latin typeface="Aptos"/>
              </a:rPr>
              <a:t>→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713732" y="4727448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7A5AA6"/>
                </a:solidFill>
                <a:latin typeface="Aptos"/>
              </a:rPr>
              <a:t>→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185916" y="4727448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28C28"/>
                </a:solidFill>
                <a:latin typeface="Aptos"/>
              </a:rPr>
              <a:t>→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1783080" y="5376672"/>
            <a:ext cx="1627632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00" b="1">
                <a:solidFill>
                  <a:srgbClr val="173F70"/>
                </a:solidFill>
                <a:latin typeface="Aptos"/>
              </a:rPr>
              <a:t>D1 PostGIS
orders • roads • bays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685032" y="5376672"/>
            <a:ext cx="1627632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00" b="1">
                <a:solidFill>
                  <a:srgbClr val="173F70"/>
                </a:solidFill>
                <a:latin typeface="Aptos"/>
              </a:rPr>
              <a:t>D2 Redis
hot state • positions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5586984" y="5376672"/>
            <a:ext cx="1627632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00" b="1">
                <a:solidFill>
                  <a:srgbClr val="173F70"/>
                </a:solidFill>
                <a:latin typeface="Aptos"/>
              </a:rPr>
              <a:t>D3 EVENT LOG
predictions • runs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521207" y="5895181"/>
            <a:ext cx="7059168" cy="2431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 dirty="0">
                <a:solidFill>
                  <a:srgbClr val="526273"/>
                </a:solidFill>
                <a:latin typeface="Aptos"/>
              </a:rPr>
              <a:t>Closure / stale ETA → invalidate → candidates → re-solve → push new route.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7818120" y="4169663"/>
            <a:ext cx="3794760" cy="21396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8046720" y="4297680"/>
            <a:ext cx="333756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40" b="1" i="0">
                <a:solidFill>
                  <a:srgbClr val="173F70"/>
                </a:solidFill>
                <a:latin typeface="Aptos"/>
              </a:rPr>
              <a:t>INTEGRATION WITH EXISTING MUNICIPAL ICCC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8119872" y="4553712"/>
            <a:ext cx="3182112" cy="201168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730" b="1">
                <a:solidFill>
                  <a:srgbClr val="173F70"/>
                </a:solidFill>
                <a:latin typeface="Aptos"/>
              </a:rPr>
              <a:t>Existing Municipal ICCC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445752" y="4754880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526273"/>
                </a:solidFill>
                <a:latin typeface="Aptos"/>
              </a:rPr>
              <a:t>↓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8119872" y="4782312"/>
            <a:ext cx="3182112" cy="201168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730" b="1">
                <a:solidFill>
                  <a:srgbClr val="173F70"/>
                </a:solidFill>
                <a:latin typeface="Aptos"/>
              </a:rPr>
              <a:t>NexFlow Adapter Layer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9445752" y="4983480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526273"/>
                </a:solidFill>
                <a:latin typeface="Aptos"/>
              </a:rPr>
              <a:t>↓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119872" y="5010912"/>
            <a:ext cx="3182112" cy="201168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730" b="1">
                <a:solidFill>
                  <a:srgbClr val="173F70"/>
                </a:solidFill>
                <a:latin typeface="Aptos"/>
              </a:rPr>
              <a:t>Freight Prediction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9445752" y="5212080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526273"/>
                </a:solidFill>
                <a:latin typeface="Aptos"/>
              </a:rPr>
              <a:t>↓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8119872" y="5239512"/>
            <a:ext cx="3182112" cy="201168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730" b="1">
                <a:solidFill>
                  <a:srgbClr val="173F70"/>
                </a:solidFill>
                <a:latin typeface="Aptos"/>
              </a:rPr>
              <a:t>Curb / Route Optimization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9445752" y="5440680"/>
            <a:ext cx="411480" cy="914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526273"/>
                </a:solidFill>
                <a:latin typeface="Aptos"/>
              </a:rPr>
              <a:t>↓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119872" y="5468112"/>
            <a:ext cx="3182112" cy="201168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730" b="1">
                <a:solidFill>
                  <a:srgbClr val="173F70"/>
                </a:solidFill>
                <a:latin typeface="Aptos"/>
              </a:rPr>
              <a:t>Fleet + Driver Dispatch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8092440" y="5687568"/>
            <a:ext cx="3364992" cy="329184"/>
          </a:xfrm>
          <a:prstGeom prst="roundRect">
            <a:avLst/>
          </a:prstGeom>
          <a:solidFill>
            <a:srgbClr val="FFF3E6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TextBox 17454"/>
          <p:cNvSpPr txBox="1"/>
          <p:nvPr/>
        </p:nvSpPr>
        <p:spPr>
          <a:xfrm>
            <a:off x="8183879" y="570585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750" b="1" i="0">
                <a:solidFill>
                  <a:srgbClr val="1E293B"/>
                </a:solidFill>
                <a:latin typeface="Aptos"/>
              </a:rPr>
              <a:t>ULIP PAYLOAD  {sourceSystem:"NEXFLOW", eventType:"VEHICLE_UPDATE", vehicleNo:"WB01XX0001"}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7882127" y="603504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900" b="1" i="0" dirty="0">
                <a:solidFill>
                  <a:srgbClr val="F28C28"/>
                </a:solidFill>
                <a:latin typeface="Aptos"/>
              </a:rPr>
              <a:t>Integration with existing ICCC infra; ULIP access is authorization-gated.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12648" y="45720"/>
            <a:ext cx="9144000" cy="822960"/>
          </a:xfrm>
        </p:spPr>
        <p:txBody>
          <a:bodyPr wrap="square" lIns="0" tIns="0" rIns="0" bIns="0" anchor="ctr"/>
          <a:lstStyle/>
          <a:p>
            <a:r>
              <a:rPr sz="2700" b="1">
                <a:solidFill>
                  <a:srgbClr val="173F70"/>
                </a:solidFill>
                <a:latin typeface="Georgia"/>
              </a:rPr>
              <a:t>FEASIBILITY &amp;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FFFFFF"/>
                </a:solidFill>
                <a:latin typeface="Aptos"/>
              </a:rPr>
              <a:t>Smart India Hackathon 2026 • NexGen • NexFlow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A59A6C2-3B7D-3706-DFC1-378569C5FA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 sz="1600" b="1">
                <a:solidFill>
                  <a:srgbClr val="144070"/>
                </a:solidFill>
                <a:latin typeface="Aptos"/>
              </a:defRPr>
            </a:pPr>
            <a:r>
              <a:rPr sz="1250"/>
              <a:t>NexGen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66C78-E8BE-0371-4610-A4BF6365D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143000"/>
            <a:ext cx="5120640" cy="420624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1050" b="1">
                <a:solidFill>
                  <a:srgbClr val="173F70"/>
                </a:solidFill>
                <a:latin typeface="Aptos"/>
              </a:rPr>
              <a:t>OPEN-SOURCE BASE STACK  •  PostgreSQL + PostGIS + Python + OSRM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897880" y="1170432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050" b="1" i="0">
                <a:solidFill>
                  <a:srgbClr val="173F70"/>
                </a:solidFill>
                <a:latin typeface="Aptos"/>
              </a:rPr>
              <a:t>FAILURE + RESILIENCE  •  deterministic response paths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700784"/>
            <a:ext cx="5349240" cy="877824"/>
          </a:xfrm>
          <a:prstGeom prst="roundRect">
            <a:avLst/>
          </a:prstGeom>
          <a:solidFill>
            <a:srgbClr val="FFF3E6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67512" y="181051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73F70"/>
                </a:solidFill>
                <a:latin typeface="Aptos"/>
              </a:rPr>
              <a:t>MISSED BAY WINDOW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2176272" y="1970954"/>
            <a:ext cx="3474720" cy="22775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1E293B"/>
                </a:solidFill>
                <a:latin typeface="Aptos"/>
              </a:rPr>
              <a:t>Grace period → release slot → assign next feasible slot.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63640" y="1700784"/>
            <a:ext cx="5349240" cy="877824"/>
          </a:xfrm>
          <a:prstGeom prst="roundRect">
            <a:avLst/>
          </a:prstGeom>
          <a:solidFill>
            <a:srgbClr val="EAF7F0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428231" y="181051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73F70"/>
                </a:solidFill>
                <a:latin typeface="Aptos"/>
              </a:rPr>
              <a:t>NETWORK FAILURE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936992" y="1903333"/>
            <a:ext cx="3456432" cy="34471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 dirty="0">
                <a:solidFill>
                  <a:srgbClr val="2F9B66"/>
                </a:solidFill>
                <a:latin typeface="Aptos"/>
              </a:rPr>
              <a:t>OFFLINE DRIVER CACHE / SMS FALLBACK</a:t>
            </a:r>
          </a:p>
          <a:p>
            <a:pPr>
              <a:defRPr sz="880">
                <a:solidFill>
                  <a:srgbClr val="1E293B"/>
                </a:solidFill>
                <a:latin typeface="Aptos"/>
              </a:defRPr>
            </a:pPr>
            <a:r>
              <a:rPr sz="1000" dirty="0"/>
              <a:t>Store-and-forward GPS + cached route/slot; sync when online.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2788920"/>
            <a:ext cx="5349240" cy="877824"/>
          </a:xfrm>
          <a:prstGeom prst="roundRect">
            <a:avLst/>
          </a:prstGeom>
          <a:solidFill>
            <a:srgbClr val="F2ECF8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667512" y="289864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73F70"/>
                </a:solidFill>
                <a:latin typeface="Aptos"/>
              </a:rPr>
              <a:t>BAY UNEXPECTEDLY OCCUPIED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176272" y="3059089"/>
            <a:ext cx="3474720" cy="22775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1E293B"/>
                </a:solidFill>
                <a:latin typeface="Aptos"/>
              </a:rPr>
              <a:t>Conflict flag → nearest feasible bay/time → notify operator.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263640" y="2788920"/>
            <a:ext cx="5349240" cy="877824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6428231" y="289864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>
                <a:solidFill>
                  <a:srgbClr val="173F70"/>
                </a:solidFill>
                <a:latin typeface="Aptos"/>
              </a:rPr>
              <a:t>STALE / SPOOFED GPS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936992" y="2974451"/>
            <a:ext cx="3474720" cy="397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50" b="0" i="0" dirty="0">
                <a:solidFill>
                  <a:srgbClr val="1E293B"/>
                </a:solidFill>
                <a:latin typeface="Aptos"/>
              </a:rPr>
              <a:t>Timestamp threshold → last-known position → human override.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02920" y="38862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73F70"/>
                </a:solidFill>
                <a:latin typeface="Aptos"/>
              </a:rPr>
              <a:t>ER DIAGRAM — CORE OPERATIONAL + GEO MODEL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02920" y="425196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1976B9"/>
                </a:solidFill>
                <a:latin typeface="Aptos"/>
              </a:rPr>
              <a:t>USER
user_id PK
role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770632" y="425196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2F9B66"/>
                </a:solidFill>
                <a:latin typeface="Aptos"/>
              </a:rPr>
              <a:t>FLEET
fleet_id PK
operator_id FK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038344" y="425196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F28C28"/>
                </a:solidFill>
                <a:latin typeface="Aptos"/>
              </a:rPr>
              <a:t>VEHICLE
vehicle_id PK
fleet_id • capacity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306056" y="425196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 dirty="0">
                <a:solidFill>
                  <a:srgbClr val="7A5AA6"/>
                </a:solidFill>
                <a:latin typeface="Aptos"/>
              </a:rPr>
              <a:t>DRIVER
</a:t>
            </a:r>
            <a:r>
              <a:rPr sz="840" b="1" dirty="0" err="1">
                <a:solidFill>
                  <a:srgbClr val="7A5AA6"/>
                </a:solidFill>
                <a:latin typeface="Aptos"/>
              </a:rPr>
              <a:t>driver_id</a:t>
            </a:r>
            <a:r>
              <a:rPr sz="840" b="1" dirty="0">
                <a:solidFill>
                  <a:srgbClr val="7A5AA6"/>
                </a:solidFill>
                <a:latin typeface="Aptos"/>
              </a:rPr>
              <a:t> PK
</a:t>
            </a:r>
            <a:r>
              <a:rPr sz="840" b="1" dirty="0" err="1">
                <a:solidFill>
                  <a:srgbClr val="7A5AA6"/>
                </a:solidFill>
                <a:latin typeface="Aptos"/>
              </a:rPr>
              <a:t>vehicle_id</a:t>
            </a:r>
            <a:r>
              <a:rPr sz="840" b="1" dirty="0">
                <a:solidFill>
                  <a:srgbClr val="7A5AA6"/>
                </a:solidFill>
                <a:latin typeface="Aptos"/>
              </a:rPr>
              <a:t> FK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9573768" y="425196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0B68A8"/>
                </a:solidFill>
                <a:latin typeface="Aptos"/>
              </a:rPr>
              <a:t>DELIVERY
delivery_id PK
window • priority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1636776" y="502920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1976B9"/>
                </a:solidFill>
                <a:latin typeface="Aptos"/>
              </a:rPr>
              <a:t>ROUTE_PLAN
route_id PK
vehicle_id • ETA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904487" y="502920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2F9B66"/>
                </a:solidFill>
                <a:latin typeface="Aptos"/>
              </a:rPr>
              <a:t>BAY_SLOT
slot_id PK
bay_id • start/end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172200" y="502920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7A5AA6"/>
                </a:solidFill>
                <a:latin typeface="Aptos"/>
              </a:rPr>
              <a:t>ROAD_SEG
segment_id PK
geom • status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439912" y="502920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F28C28"/>
                </a:solidFill>
                <a:latin typeface="Aptos"/>
              </a:rPr>
              <a:t>INCIDENT
incident_id PK
segment_id • severity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10067544" y="5029200"/>
            <a:ext cx="182880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6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pPr algn="ctr"/>
            <a:r>
              <a:rPr sz="840" b="1">
                <a:solidFill>
                  <a:srgbClr val="0B68A8"/>
                </a:solidFill>
                <a:latin typeface="Aptos"/>
              </a:rPr>
              <a:t>PREDICTION
prediction_id PK
type • score • horizon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2331720" y="4480560"/>
            <a:ext cx="365760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680" b="1" i="0">
                <a:solidFill>
                  <a:srgbClr val="526273"/>
                </a:solidFill>
                <a:latin typeface="Aptos"/>
              </a:rPr>
              <a:t>1:N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599432" y="4480560"/>
            <a:ext cx="365760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680" b="1" i="0">
                <a:solidFill>
                  <a:srgbClr val="526273"/>
                </a:solidFill>
                <a:latin typeface="Aptos"/>
              </a:rPr>
              <a:t>1:N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867144" y="4480560"/>
            <a:ext cx="365760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680" b="1" i="0">
                <a:solidFill>
                  <a:srgbClr val="526273"/>
                </a:solidFill>
                <a:latin typeface="Aptos"/>
              </a:rPr>
              <a:t>1:N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134856" y="4480560"/>
            <a:ext cx="365760" cy="14630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680" b="1" i="0">
                <a:solidFill>
                  <a:srgbClr val="526273"/>
                </a:solidFill>
                <a:latin typeface="Aptos"/>
              </a:rPr>
              <a:t>1:N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2148840" y="4910328"/>
            <a:ext cx="566928" cy="12801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526273"/>
                </a:solidFill>
                <a:latin typeface="Aptos"/>
              </a:rPr>
              <a:t>assigns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462272" y="4910328"/>
            <a:ext cx="566928" cy="12801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526273"/>
                </a:solidFill>
                <a:latin typeface="Aptos"/>
              </a:rPr>
              <a:t>uses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739128" y="4910328"/>
            <a:ext cx="566928" cy="12801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526273"/>
                </a:solidFill>
                <a:latin typeface="Aptos"/>
              </a:rPr>
              <a:t>books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979408" y="4910328"/>
            <a:ext cx="566928" cy="12801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526273"/>
                </a:solidFill>
                <a:latin typeface="Aptos"/>
              </a:rPr>
              <a:t>triggers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502920" y="5808313"/>
            <a:ext cx="11064240" cy="2431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 dirty="0">
                <a:solidFill>
                  <a:srgbClr val="526273"/>
                </a:solidFill>
                <a:latin typeface="Aptos"/>
              </a:rPr>
              <a:t>Spatial store: </a:t>
            </a:r>
            <a:r>
              <a:rPr sz="1100" b="1" i="0" dirty="0" err="1">
                <a:solidFill>
                  <a:srgbClr val="526273"/>
                </a:solidFill>
                <a:latin typeface="Aptos"/>
              </a:rPr>
              <a:t>PostGIS</a:t>
            </a:r>
            <a:r>
              <a:rPr sz="1100" b="1" i="0" dirty="0">
                <a:solidFill>
                  <a:srgbClr val="526273"/>
                </a:solidFill>
                <a:latin typeface="Aptos"/>
              </a:rPr>
              <a:t> with </a:t>
            </a:r>
            <a:r>
              <a:rPr sz="1100" b="1" i="0" dirty="0" err="1">
                <a:solidFill>
                  <a:srgbClr val="526273"/>
                </a:solidFill>
                <a:latin typeface="Aptos"/>
              </a:rPr>
              <a:t>GiST</a:t>
            </a:r>
            <a:r>
              <a:rPr sz="1100" b="1" i="0" dirty="0">
                <a:solidFill>
                  <a:srgbClr val="526273"/>
                </a:solidFill>
                <a:latin typeface="Aptos"/>
              </a:rPr>
              <a:t> indexes  •  Hot state: Redis  •  Audit/event log: PostgreSQL  •  adapter-based integration keeps the core deployable.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12648" y="45720"/>
            <a:ext cx="9144000" cy="822960"/>
          </a:xfrm>
        </p:spPr>
        <p:txBody>
          <a:bodyPr wrap="square" lIns="0" tIns="0" rIns="0" bIns="0" anchor="ctr"/>
          <a:lstStyle/>
          <a:p>
            <a:r>
              <a:rPr sz="2700" b="1">
                <a:solidFill>
                  <a:srgbClr val="173F70"/>
                </a:solidFill>
                <a:latin typeface="Georgia"/>
              </a:rPr>
              <a:t>IMPACT &amp;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solidFill>
                  <a:srgbClr val="FFFFFF"/>
                </a:solidFill>
                <a:latin typeface="Aptos"/>
              </a:rPr>
              <a:t>Smart India Hackathon 2026 • NexGen • NexFlow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 sz="1600" b="1">
                <a:solidFill>
                  <a:srgbClr val="144070"/>
                </a:solidFill>
                <a:latin typeface="Aptos"/>
              </a:defRPr>
            </a:pPr>
            <a:r>
              <a:rPr sz="1250"/>
              <a:t>NexGen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124712"/>
            <a:ext cx="1115568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173F70"/>
                </a:solidFill>
                <a:latin typeface="Aptos"/>
              </a:rPr>
              <a:t>TARGET HYPOTHESES  •  matched baseline vs NexFlow replay runs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481328"/>
            <a:ext cx="2651760" cy="1078992"/>
          </a:xfrm>
          <a:prstGeom prst="roundRect">
            <a:avLst/>
          </a:prstGeom>
          <a:solidFill>
            <a:srgbClr val="EAF7F0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563624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2F9B66"/>
                </a:solidFill>
                <a:latin typeface="Aptos"/>
              </a:rPr>
              <a:t>-18%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645919" y="160934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173F70"/>
                </a:solidFill>
                <a:latin typeface="Aptos"/>
              </a:rPr>
              <a:t>Last-mile idle time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12648" y="1965960"/>
            <a:ext cx="2331720" cy="3931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→ lower idle fuel consumption &amp; emissions (expected secondary effect)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55848" y="1481328"/>
            <a:ext cx="2651760" cy="1078992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3447288" y="1563624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1976B9"/>
                </a:solidFill>
                <a:latin typeface="Aptos"/>
              </a:rPr>
              <a:t>+25%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98848" y="160934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173F70"/>
                </a:solidFill>
                <a:latin typeface="Aptos"/>
              </a:rPr>
              <a:t>Loading-bay turnover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465576" y="1965960"/>
            <a:ext cx="2331720" cy="3931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→ more completed deliveries per curb-hour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208776" y="1481328"/>
            <a:ext cx="2651760" cy="1078992"/>
          </a:xfrm>
          <a:prstGeom prst="roundRect">
            <a:avLst/>
          </a:prstGeom>
          <a:solidFill>
            <a:srgbClr val="FFF3E6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6300216" y="1563624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F28C28"/>
                </a:solidFill>
                <a:latin typeface="Aptos"/>
              </a:rPr>
              <a:t>-10%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351775" y="160934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173F70"/>
                </a:solidFill>
                <a:latin typeface="Aptos"/>
              </a:rPr>
              <a:t>Distance / order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18504" y="2048678"/>
            <a:ext cx="2331720" cy="22775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→ lower fuel + maintenance burden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061704" y="1481328"/>
            <a:ext cx="2651760" cy="1078992"/>
          </a:xfrm>
          <a:prstGeom prst="roundRect">
            <a:avLst/>
          </a:prstGeom>
          <a:solidFill>
            <a:srgbClr val="F2ECF8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9153144" y="1563624"/>
            <a:ext cx="91440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7A5AA6"/>
                </a:solidFill>
                <a:latin typeface="Aptos"/>
              </a:rPr>
              <a:t>-15%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0204704" y="160934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50" b="1" i="0">
                <a:solidFill>
                  <a:srgbClr val="173F70"/>
                </a:solidFill>
                <a:latin typeface="Aptos"/>
              </a:rPr>
              <a:t>Late orders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171432" y="1965960"/>
            <a:ext cx="2331720" cy="39319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→ fewer penalties / failed delivery attempts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02920" y="2761488"/>
            <a:ext cx="370332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85800" y="2907792"/>
            <a:ext cx="333756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173F70"/>
                </a:solidFill>
                <a:latin typeface="Aptos"/>
              </a:rPr>
              <a:t>ECONOMIC IMPACT LOGIC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31520" y="3232827"/>
            <a:ext cx="3246120" cy="227755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 dirty="0">
                <a:solidFill>
                  <a:srgbClr val="1E293B"/>
                </a:solidFill>
                <a:latin typeface="Aptos"/>
              </a:rPr>
              <a:t>Idle minutes avoided  ↓  Fuel avoided  ↓  </a:t>
            </a:r>
            <a:r>
              <a:rPr sz="1000" b="1" i="0" dirty="0" err="1">
                <a:solidFill>
                  <a:srgbClr val="1E293B"/>
                </a:solidFill>
                <a:latin typeface="Aptos"/>
              </a:rPr>
              <a:t>CO₂e</a:t>
            </a:r>
            <a:r>
              <a:rPr sz="1000" b="1" i="0" dirty="0">
                <a:solidFill>
                  <a:srgbClr val="1E293B"/>
                </a:solidFill>
                <a:latin typeface="Aptos"/>
              </a:rPr>
              <a:t> avoided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31520" y="3543722"/>
            <a:ext cx="3246120" cy="227755"/>
          </a:xfrm>
          <a:prstGeom prst="rect">
            <a:avLst/>
          </a:prstGeom>
          <a:solidFill>
            <a:srgbClr val="EAF7F0"/>
          </a:solidFill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 dirty="0">
                <a:solidFill>
                  <a:srgbClr val="1E293B"/>
                </a:solidFill>
                <a:latin typeface="Aptos"/>
              </a:rPr>
              <a:t>Vehicle-km reduced  ↓  Fuel + maintenance cost ↓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31520" y="3854618"/>
            <a:ext cx="3246120" cy="227755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 dirty="0">
                <a:solidFill>
                  <a:srgbClr val="1E293B"/>
                </a:solidFill>
                <a:latin typeface="Aptos"/>
              </a:rPr>
              <a:t>Bay turnover ↑  →  more deliveries per curb-hour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462272" y="2770632"/>
            <a:ext cx="7150608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73F70"/>
                </a:solidFill>
                <a:latin typeface="Aptos"/>
              </a:rPr>
              <a:t>BUSINESS MODEL — PREMIUM / VALUE-BASED ACCOUNTS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462272" y="3127248"/>
            <a:ext cx="224028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4572000" y="3227832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80" b="1" i="0">
                <a:solidFill>
                  <a:srgbClr val="1976B9"/>
                </a:solidFill>
                <a:latin typeface="Aptos"/>
              </a:rPr>
              <a:t>B2G  •  CITY ZONE PRO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572000" y="34930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73F70"/>
                </a:solidFill>
                <a:latin typeface="Aptos"/>
              </a:rPr>
              <a:t>₹5–15 L / year / zone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572000" y="3777675"/>
            <a:ext cx="2011680" cy="3816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0" i="0" dirty="0">
                <a:solidFill>
                  <a:srgbClr val="526273"/>
                </a:solidFill>
                <a:latin typeface="Aptos"/>
              </a:rPr>
              <a:t>Municipal dashboard + forecasts + curb controls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858000" y="3127248"/>
            <a:ext cx="224028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6967728" y="3227832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80" b="1" i="0">
                <a:solidFill>
                  <a:srgbClr val="2F9B66"/>
                </a:solidFill>
                <a:latin typeface="Aptos"/>
              </a:rPr>
              <a:t>B2B  •  FLEET PRO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967728" y="34930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73F70"/>
                </a:solidFill>
                <a:latin typeface="Aptos"/>
              </a:rPr>
              <a:t>₹150–300 / active vehicle / month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967728" y="3777675"/>
            <a:ext cx="2011680" cy="3816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0" i="0" dirty="0">
                <a:solidFill>
                  <a:srgbClr val="526273"/>
                </a:solidFill>
                <a:latin typeface="Aptos"/>
              </a:rPr>
              <a:t>Dynamic routing + ETA protection + analytics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9253728" y="3127248"/>
            <a:ext cx="224028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9363456" y="3227832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80" b="1" i="0">
                <a:solidFill>
                  <a:srgbClr val="F28C28"/>
                </a:solidFill>
                <a:latin typeface="Aptos"/>
              </a:rPr>
              <a:t>CURB ACCESS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363456" y="34930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73F70"/>
                </a:solidFill>
                <a:latin typeface="Aptos"/>
              </a:rPr>
              <a:t>₹10–20 / peak reserved slot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9363456" y="3777675"/>
            <a:ext cx="2011680" cy="3816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0" i="0" dirty="0">
                <a:solidFill>
                  <a:srgbClr val="526273"/>
                </a:solidFill>
                <a:latin typeface="Aptos"/>
              </a:rPr>
              <a:t>Transaction fee for booked loading access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02920" y="4462272"/>
            <a:ext cx="11109960" cy="2194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73F70"/>
                </a:solidFill>
                <a:latin typeface="Aptos"/>
              </a:rPr>
              <a:t>GO-TO-MARKET  •  INTEGRATION WITH EXISTING MUNICIPAL ICCC INFRASTRUCTURE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502920" y="4828032"/>
            <a:ext cx="3456432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TextBox 17446"/>
          <p:cNvSpPr txBox="1"/>
          <p:nvPr/>
        </p:nvSpPr>
        <p:spPr>
          <a:xfrm>
            <a:off x="640080" y="4928616"/>
            <a:ext cx="317296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 i="0">
                <a:solidFill>
                  <a:srgbClr val="1976B9"/>
                </a:solidFill>
                <a:latin typeface="Aptos"/>
              </a:rPr>
              <a:t>PHASE 1  •  PILOT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40080" y="5193792"/>
            <a:ext cx="3172968" cy="4480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19" b="1" i="0">
                <a:solidFill>
                  <a:srgbClr val="1E293B"/>
                </a:solidFill>
                <a:latin typeface="Aptos"/>
              </a:rPr>
              <a:t>Burrabazar / Posta
1 zone • 100 vehicles
matched baseline replay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3959352" y="5230368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976B9"/>
                </a:solidFill>
                <a:latin typeface="Aptos"/>
              </a:rPr>
              <a:t>→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4233672" y="4828032"/>
            <a:ext cx="3456432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1" name="TextBox 17450"/>
          <p:cNvSpPr txBox="1"/>
          <p:nvPr/>
        </p:nvSpPr>
        <p:spPr>
          <a:xfrm>
            <a:off x="4370832" y="4928616"/>
            <a:ext cx="317296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 i="0">
                <a:solidFill>
                  <a:srgbClr val="2F9B66"/>
                </a:solidFill>
                <a:latin typeface="Aptos"/>
              </a:rPr>
              <a:t>PHASE 2  •  INTEGRATE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370832" y="5193792"/>
            <a:ext cx="3172968" cy="4480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19" b="1" i="0">
                <a:solidFill>
                  <a:srgbClr val="1E293B"/>
                </a:solidFill>
                <a:latin typeface="Aptos"/>
              </a:rPr>
              <a:t>Municipal ICCC / TMC
fleet operators + curb management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690104" y="5230368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2F9B66"/>
                </a:solidFill>
                <a:latin typeface="Aptos"/>
              </a:rPr>
              <a:t>→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7964424" y="4828032"/>
            <a:ext cx="3456432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TextBox 17454"/>
          <p:cNvSpPr txBox="1"/>
          <p:nvPr/>
        </p:nvSpPr>
        <p:spPr>
          <a:xfrm>
            <a:off x="8101584" y="4928616"/>
            <a:ext cx="3172968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 i="0">
                <a:solidFill>
                  <a:srgbClr val="7A5AA6"/>
                </a:solidFill>
                <a:latin typeface="Aptos"/>
              </a:rPr>
              <a:t>PHASE 3  •  EXPAND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101584" y="5193792"/>
            <a:ext cx="3172968" cy="44805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19" b="1" i="0">
                <a:solidFill>
                  <a:srgbClr val="1E293B"/>
                </a:solidFill>
                <a:latin typeface="Aptos"/>
              </a:rPr>
              <a:t>Multi-zone → multi-city
enterprise fleet accounts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502920" y="5886037"/>
            <a:ext cx="11109960" cy="2431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 dirty="0">
                <a:solidFill>
                  <a:srgbClr val="526273"/>
                </a:solidFill>
                <a:latin typeface="Aptos"/>
              </a:rPr>
              <a:t>Deployment partners are potential: municipal ICCCs / Traffic Management </a:t>
            </a:r>
            <a:r>
              <a:rPr sz="1100" b="1" i="0" dirty="0" err="1">
                <a:solidFill>
                  <a:srgbClr val="526273"/>
                </a:solidFill>
                <a:latin typeface="Aptos"/>
              </a:rPr>
              <a:t>Centres</a:t>
            </a:r>
            <a:r>
              <a:rPr sz="1100" b="1" i="0" dirty="0">
                <a:solidFill>
                  <a:srgbClr val="526273"/>
                </a:solidFill>
                <a:latin typeface="Aptos"/>
              </a:rPr>
              <a:t> (e.g., KMC/KMDA, Delhi Traffic Police); no partnership is claimed.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31000"/>
            <a:ext cx="12191999" cy="42699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12648" y="45720"/>
            <a:ext cx="9144000" cy="822960"/>
          </a:xfrm>
        </p:spPr>
        <p:txBody>
          <a:bodyPr wrap="square" lIns="0" tIns="0" rIns="0" bIns="0" anchor="ctr"/>
          <a:lstStyle/>
          <a:p>
            <a:r>
              <a:rPr sz="2500" b="1">
                <a:solidFill>
                  <a:srgbClr val="173F70"/>
                </a:solidFill>
                <a:latin typeface="Georgia"/>
              </a:rPr>
              <a:t>RESEARCH, REFERENCES &amp; ACCESS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00" b="0" dirty="0">
                <a:solidFill>
                  <a:srgbClr val="FFFFFF"/>
                </a:solidFill>
                <a:latin typeface="Aptos"/>
              </a:rPr>
              <a:t>Smart India Hackathon 2026 • NexGen • </a:t>
            </a:r>
            <a:r>
              <a:rPr sz="900" b="0" dirty="0" err="1">
                <a:solidFill>
                  <a:srgbClr val="FFFFFF"/>
                </a:solidFill>
                <a:latin typeface="Aptos"/>
              </a:rPr>
              <a:t>NexFlow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 sz="1600" b="1">
                <a:solidFill>
                  <a:srgbClr val="144070"/>
                </a:solidFill>
                <a:latin typeface="Aptos"/>
              </a:defRPr>
            </a:pPr>
            <a:r>
              <a:rPr sz="1250"/>
              <a:t>NexGen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298448"/>
            <a:ext cx="3502152" cy="1078992"/>
          </a:xfrm>
          <a:prstGeom prst="roundRect">
            <a:avLst/>
          </a:prstGeom>
          <a:solidFill>
            <a:srgbClr val="EAF3FA"/>
          </a:solidFill>
          <a:ln w="15240">
            <a:solidFill>
              <a:srgbClr val="197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1379494"/>
            <a:ext cx="3227832" cy="2585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 dirty="0">
                <a:solidFill>
                  <a:srgbClr val="1976B9"/>
                </a:solidFill>
                <a:latin typeface="Aptos"/>
              </a:rPr>
              <a:t>GOVERNMENT GUIDELINES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1629391"/>
            <a:ext cx="3136392" cy="58169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 dirty="0">
                <a:solidFill>
                  <a:srgbClr val="1E293B"/>
                </a:solidFill>
                <a:latin typeface="Aptos"/>
              </a:rPr>
              <a:t>• PM </a:t>
            </a:r>
            <a:r>
              <a:rPr sz="1100" b="1" i="0" dirty="0" err="1">
                <a:solidFill>
                  <a:srgbClr val="1E293B"/>
                </a:solidFill>
                <a:latin typeface="Aptos"/>
              </a:rPr>
              <a:t>GatiShakti</a:t>
            </a:r>
            <a:r>
              <a:rPr sz="1100" b="1" i="0" dirty="0">
                <a:solidFill>
                  <a:srgbClr val="1E293B"/>
                </a:solidFill>
                <a:latin typeface="Aptos"/>
              </a:rPr>
              <a:t>
• National Logistics Policy
• ULIP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79392" y="1298448"/>
            <a:ext cx="3502152" cy="1078992"/>
          </a:xfrm>
          <a:prstGeom prst="roundRect">
            <a:avLst/>
          </a:prstGeom>
          <a:solidFill>
            <a:srgbClr val="EAF7F0"/>
          </a:solidFill>
          <a:ln w="15240">
            <a:solidFill>
              <a:srgbClr val="2F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4416552" y="1379494"/>
            <a:ext cx="3227832" cy="2585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 dirty="0">
                <a:solidFill>
                  <a:srgbClr val="2F9B66"/>
                </a:solidFill>
                <a:latin typeface="Aptos"/>
              </a:rPr>
              <a:t>DATA FEEDS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462272" y="1652475"/>
            <a:ext cx="3136392" cy="535531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 dirty="0">
                <a:solidFill>
                  <a:srgbClr val="1E293B"/>
                </a:solidFill>
                <a:latin typeface="Aptos"/>
              </a:rPr>
              <a:t>• Delhi GTFS / OTD
• Kochi Metro GTFS
• OpenStreetMap • Open-</a:t>
            </a:r>
            <a:r>
              <a:rPr sz="1000" b="1" i="0" dirty="0" err="1">
                <a:solidFill>
                  <a:srgbClr val="1E293B"/>
                </a:solidFill>
                <a:latin typeface="Aptos"/>
              </a:rPr>
              <a:t>Meteo</a:t>
            </a:r>
            <a:endParaRPr sz="1000" b="1" i="0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17416" name="Rounded Rectangle 17415"/>
          <p:cNvSpPr/>
          <p:nvPr/>
        </p:nvSpPr>
        <p:spPr>
          <a:xfrm>
            <a:off x="8055864" y="1298448"/>
            <a:ext cx="3502152" cy="1078992"/>
          </a:xfrm>
          <a:prstGeom prst="roundRect">
            <a:avLst/>
          </a:prstGeom>
          <a:solidFill>
            <a:srgbClr val="F2ECF8"/>
          </a:solidFill>
          <a:ln w="15240">
            <a:solidFill>
              <a:srgbClr val="7A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8193024" y="1379494"/>
            <a:ext cx="3227832" cy="25853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 dirty="0">
                <a:solidFill>
                  <a:srgbClr val="7A5AA6"/>
                </a:solidFill>
                <a:latin typeface="Aptos"/>
              </a:rPr>
              <a:t>ENGINE DOCUMENTATION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38744" y="1575530"/>
            <a:ext cx="3136392" cy="6894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 dirty="0">
                <a:solidFill>
                  <a:srgbClr val="1E293B"/>
                </a:solidFill>
                <a:latin typeface="Aptos"/>
              </a:rPr>
              <a:t>• OSRM
• OR-Tools
• </a:t>
            </a:r>
            <a:r>
              <a:rPr sz="1000" b="1" i="0" dirty="0" err="1">
                <a:solidFill>
                  <a:srgbClr val="1E293B"/>
                </a:solidFill>
                <a:latin typeface="Aptos"/>
              </a:rPr>
              <a:t>PostGIS</a:t>
            </a:r>
            <a:r>
              <a:rPr sz="1000" b="1" i="0" dirty="0">
                <a:solidFill>
                  <a:srgbClr val="1E293B"/>
                </a:solidFill>
                <a:latin typeface="Aptos"/>
              </a:rPr>
              <a:t>
• TomTom Traffic API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425696" y="2487168"/>
            <a:ext cx="3337560" cy="1901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4590288" y="261518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73F70"/>
                </a:solidFill>
                <a:latin typeface="Aptos"/>
              </a:rPr>
              <a:t>SCAN TO VERIFY PROJECT ACCESS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5202936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ectangle 17422"/>
          <p:cNvSpPr/>
          <p:nvPr/>
        </p:nvSpPr>
        <p:spPr>
          <a:xfrm>
            <a:off x="5270427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ectangle 17423"/>
          <p:cNvSpPr/>
          <p:nvPr/>
        </p:nvSpPr>
        <p:spPr>
          <a:xfrm>
            <a:off x="5337918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ectangle 17424"/>
          <p:cNvSpPr/>
          <p:nvPr/>
        </p:nvSpPr>
        <p:spPr>
          <a:xfrm>
            <a:off x="5405410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Rectangle 17425"/>
          <p:cNvSpPr/>
          <p:nvPr/>
        </p:nvSpPr>
        <p:spPr>
          <a:xfrm>
            <a:off x="5472901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ectangle 17426"/>
          <p:cNvSpPr/>
          <p:nvPr/>
        </p:nvSpPr>
        <p:spPr>
          <a:xfrm>
            <a:off x="5540393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ectangle 17427"/>
          <p:cNvSpPr/>
          <p:nvPr/>
        </p:nvSpPr>
        <p:spPr>
          <a:xfrm>
            <a:off x="5607884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ectangle 17428"/>
          <p:cNvSpPr/>
          <p:nvPr/>
        </p:nvSpPr>
        <p:spPr>
          <a:xfrm>
            <a:off x="5742867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Rectangle 17429"/>
          <p:cNvSpPr/>
          <p:nvPr/>
        </p:nvSpPr>
        <p:spPr>
          <a:xfrm>
            <a:off x="5877850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ectangle 17430"/>
          <p:cNvSpPr/>
          <p:nvPr/>
        </p:nvSpPr>
        <p:spPr>
          <a:xfrm>
            <a:off x="6147816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Rectangle 17431"/>
          <p:cNvSpPr/>
          <p:nvPr/>
        </p:nvSpPr>
        <p:spPr>
          <a:xfrm>
            <a:off x="6215307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ectangle 17432"/>
          <p:cNvSpPr/>
          <p:nvPr/>
        </p:nvSpPr>
        <p:spPr>
          <a:xfrm>
            <a:off x="6282798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Rectangle 17433"/>
          <p:cNvSpPr/>
          <p:nvPr/>
        </p:nvSpPr>
        <p:spPr>
          <a:xfrm>
            <a:off x="6350290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ectangle 17434"/>
          <p:cNvSpPr/>
          <p:nvPr/>
        </p:nvSpPr>
        <p:spPr>
          <a:xfrm>
            <a:off x="6417781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Rectangle 17435"/>
          <p:cNvSpPr/>
          <p:nvPr/>
        </p:nvSpPr>
        <p:spPr>
          <a:xfrm>
            <a:off x="6485273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ectangle 17436"/>
          <p:cNvSpPr/>
          <p:nvPr/>
        </p:nvSpPr>
        <p:spPr>
          <a:xfrm>
            <a:off x="6552764" y="287121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Rectangle 17437"/>
          <p:cNvSpPr/>
          <p:nvPr/>
        </p:nvSpPr>
        <p:spPr>
          <a:xfrm>
            <a:off x="5202936" y="293870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Rectangle 17438"/>
          <p:cNvSpPr/>
          <p:nvPr/>
        </p:nvSpPr>
        <p:spPr>
          <a:xfrm>
            <a:off x="5607884" y="293870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Rectangle 17439"/>
          <p:cNvSpPr/>
          <p:nvPr/>
        </p:nvSpPr>
        <p:spPr>
          <a:xfrm>
            <a:off x="5810358" y="293870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Rectangle 17440"/>
          <p:cNvSpPr/>
          <p:nvPr/>
        </p:nvSpPr>
        <p:spPr>
          <a:xfrm>
            <a:off x="5877850" y="293870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ectangle 17441"/>
          <p:cNvSpPr/>
          <p:nvPr/>
        </p:nvSpPr>
        <p:spPr>
          <a:xfrm>
            <a:off x="6147816" y="293870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Rectangle 17442"/>
          <p:cNvSpPr/>
          <p:nvPr/>
        </p:nvSpPr>
        <p:spPr>
          <a:xfrm>
            <a:off x="6552764" y="293870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Rectangle 17443"/>
          <p:cNvSpPr/>
          <p:nvPr/>
        </p:nvSpPr>
        <p:spPr>
          <a:xfrm>
            <a:off x="5202936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Rectangle 17444"/>
          <p:cNvSpPr/>
          <p:nvPr/>
        </p:nvSpPr>
        <p:spPr>
          <a:xfrm>
            <a:off x="5337918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Rectangle 17445"/>
          <p:cNvSpPr/>
          <p:nvPr/>
        </p:nvSpPr>
        <p:spPr>
          <a:xfrm>
            <a:off x="5405410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Rectangle 17446"/>
          <p:cNvSpPr/>
          <p:nvPr/>
        </p:nvSpPr>
        <p:spPr>
          <a:xfrm>
            <a:off x="5472901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8" name="Rectangle 17447"/>
          <p:cNvSpPr/>
          <p:nvPr/>
        </p:nvSpPr>
        <p:spPr>
          <a:xfrm>
            <a:off x="5607884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Rectangle 17448"/>
          <p:cNvSpPr/>
          <p:nvPr/>
        </p:nvSpPr>
        <p:spPr>
          <a:xfrm>
            <a:off x="5810358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Rectangle 17449"/>
          <p:cNvSpPr/>
          <p:nvPr/>
        </p:nvSpPr>
        <p:spPr>
          <a:xfrm>
            <a:off x="6147816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1" name="Rectangle 17450"/>
          <p:cNvSpPr/>
          <p:nvPr/>
        </p:nvSpPr>
        <p:spPr>
          <a:xfrm>
            <a:off x="6282798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2" name="Rectangle 17451"/>
          <p:cNvSpPr/>
          <p:nvPr/>
        </p:nvSpPr>
        <p:spPr>
          <a:xfrm>
            <a:off x="6350290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Rectangle 17452"/>
          <p:cNvSpPr/>
          <p:nvPr/>
        </p:nvSpPr>
        <p:spPr>
          <a:xfrm>
            <a:off x="6417781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Rectangle 17453"/>
          <p:cNvSpPr/>
          <p:nvPr/>
        </p:nvSpPr>
        <p:spPr>
          <a:xfrm>
            <a:off x="6552764" y="300619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Rectangle 17454"/>
          <p:cNvSpPr/>
          <p:nvPr/>
        </p:nvSpPr>
        <p:spPr>
          <a:xfrm>
            <a:off x="5202936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6" name="Rectangle 17455"/>
          <p:cNvSpPr/>
          <p:nvPr/>
        </p:nvSpPr>
        <p:spPr>
          <a:xfrm>
            <a:off x="5337918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Rectangle 17456"/>
          <p:cNvSpPr/>
          <p:nvPr/>
        </p:nvSpPr>
        <p:spPr>
          <a:xfrm>
            <a:off x="5405410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Rectangle 17457"/>
          <p:cNvSpPr/>
          <p:nvPr/>
        </p:nvSpPr>
        <p:spPr>
          <a:xfrm>
            <a:off x="5472901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9" name="Rectangle 17458"/>
          <p:cNvSpPr/>
          <p:nvPr/>
        </p:nvSpPr>
        <p:spPr>
          <a:xfrm>
            <a:off x="5607884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0" name="Rectangle 17459"/>
          <p:cNvSpPr/>
          <p:nvPr/>
        </p:nvSpPr>
        <p:spPr>
          <a:xfrm>
            <a:off x="5742867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Rectangle 17460"/>
          <p:cNvSpPr/>
          <p:nvPr/>
        </p:nvSpPr>
        <p:spPr>
          <a:xfrm>
            <a:off x="5945341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Rectangle 17461"/>
          <p:cNvSpPr/>
          <p:nvPr/>
        </p:nvSpPr>
        <p:spPr>
          <a:xfrm>
            <a:off x="6147816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3" name="Rectangle 17462"/>
          <p:cNvSpPr/>
          <p:nvPr/>
        </p:nvSpPr>
        <p:spPr>
          <a:xfrm>
            <a:off x="6282798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4" name="Rectangle 17463"/>
          <p:cNvSpPr/>
          <p:nvPr/>
        </p:nvSpPr>
        <p:spPr>
          <a:xfrm>
            <a:off x="6350290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Rectangle 17464"/>
          <p:cNvSpPr/>
          <p:nvPr/>
        </p:nvSpPr>
        <p:spPr>
          <a:xfrm>
            <a:off x="6417781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Rectangle 17465"/>
          <p:cNvSpPr/>
          <p:nvPr/>
        </p:nvSpPr>
        <p:spPr>
          <a:xfrm>
            <a:off x="6552764" y="307369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Rectangle 17466"/>
          <p:cNvSpPr/>
          <p:nvPr/>
        </p:nvSpPr>
        <p:spPr>
          <a:xfrm>
            <a:off x="5202936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8" name="Rectangle 17467"/>
          <p:cNvSpPr/>
          <p:nvPr/>
        </p:nvSpPr>
        <p:spPr>
          <a:xfrm>
            <a:off x="5337918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9" name="Rectangle 17468"/>
          <p:cNvSpPr/>
          <p:nvPr/>
        </p:nvSpPr>
        <p:spPr>
          <a:xfrm>
            <a:off x="5405410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Rectangle 17469"/>
          <p:cNvSpPr/>
          <p:nvPr/>
        </p:nvSpPr>
        <p:spPr>
          <a:xfrm>
            <a:off x="5472901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1" name="Rectangle 17470"/>
          <p:cNvSpPr/>
          <p:nvPr/>
        </p:nvSpPr>
        <p:spPr>
          <a:xfrm>
            <a:off x="5607884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2" name="Rectangle 17471"/>
          <p:cNvSpPr/>
          <p:nvPr/>
        </p:nvSpPr>
        <p:spPr>
          <a:xfrm>
            <a:off x="5742867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3" name="Rectangle 17472"/>
          <p:cNvSpPr/>
          <p:nvPr/>
        </p:nvSpPr>
        <p:spPr>
          <a:xfrm>
            <a:off x="5877850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Rectangle 17473"/>
          <p:cNvSpPr/>
          <p:nvPr/>
        </p:nvSpPr>
        <p:spPr>
          <a:xfrm>
            <a:off x="6147816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5" name="Rectangle 17474"/>
          <p:cNvSpPr/>
          <p:nvPr/>
        </p:nvSpPr>
        <p:spPr>
          <a:xfrm>
            <a:off x="6282798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6" name="Rectangle 17475"/>
          <p:cNvSpPr/>
          <p:nvPr/>
        </p:nvSpPr>
        <p:spPr>
          <a:xfrm>
            <a:off x="6350290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7" name="Rectangle 17476"/>
          <p:cNvSpPr/>
          <p:nvPr/>
        </p:nvSpPr>
        <p:spPr>
          <a:xfrm>
            <a:off x="6417781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Rectangle 17477"/>
          <p:cNvSpPr/>
          <p:nvPr/>
        </p:nvSpPr>
        <p:spPr>
          <a:xfrm>
            <a:off x="6552764" y="314118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9" name="Rectangle 17478"/>
          <p:cNvSpPr/>
          <p:nvPr/>
        </p:nvSpPr>
        <p:spPr>
          <a:xfrm>
            <a:off x="5202936" y="320867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0" name="Rectangle 17479"/>
          <p:cNvSpPr/>
          <p:nvPr/>
        </p:nvSpPr>
        <p:spPr>
          <a:xfrm>
            <a:off x="5607884" y="320867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1" name="Rectangle 17480"/>
          <p:cNvSpPr/>
          <p:nvPr/>
        </p:nvSpPr>
        <p:spPr>
          <a:xfrm>
            <a:off x="6147816" y="320867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Rectangle 17481"/>
          <p:cNvSpPr/>
          <p:nvPr/>
        </p:nvSpPr>
        <p:spPr>
          <a:xfrm>
            <a:off x="6552764" y="320867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3" name="Rectangle 17482"/>
          <p:cNvSpPr/>
          <p:nvPr/>
        </p:nvSpPr>
        <p:spPr>
          <a:xfrm>
            <a:off x="5202936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4" name="Rectangle 17483"/>
          <p:cNvSpPr/>
          <p:nvPr/>
        </p:nvSpPr>
        <p:spPr>
          <a:xfrm>
            <a:off x="5270427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5" name="Rectangle 17484"/>
          <p:cNvSpPr/>
          <p:nvPr/>
        </p:nvSpPr>
        <p:spPr>
          <a:xfrm>
            <a:off x="5337918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6" name="Rectangle 17485"/>
          <p:cNvSpPr/>
          <p:nvPr/>
        </p:nvSpPr>
        <p:spPr>
          <a:xfrm>
            <a:off x="5405410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7" name="Rectangle 17486"/>
          <p:cNvSpPr/>
          <p:nvPr/>
        </p:nvSpPr>
        <p:spPr>
          <a:xfrm>
            <a:off x="5472901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8" name="Rectangle 17487"/>
          <p:cNvSpPr/>
          <p:nvPr/>
        </p:nvSpPr>
        <p:spPr>
          <a:xfrm>
            <a:off x="5540393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9" name="Rectangle 17488"/>
          <p:cNvSpPr/>
          <p:nvPr/>
        </p:nvSpPr>
        <p:spPr>
          <a:xfrm>
            <a:off x="5607884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0" name="Rectangle 17489"/>
          <p:cNvSpPr/>
          <p:nvPr/>
        </p:nvSpPr>
        <p:spPr>
          <a:xfrm>
            <a:off x="5742867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1" name="Rectangle 17490"/>
          <p:cNvSpPr/>
          <p:nvPr/>
        </p:nvSpPr>
        <p:spPr>
          <a:xfrm>
            <a:off x="5945341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2" name="Rectangle 17491"/>
          <p:cNvSpPr/>
          <p:nvPr/>
        </p:nvSpPr>
        <p:spPr>
          <a:xfrm>
            <a:off x="6147816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3" name="Rectangle 17492"/>
          <p:cNvSpPr/>
          <p:nvPr/>
        </p:nvSpPr>
        <p:spPr>
          <a:xfrm>
            <a:off x="6215307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4" name="Rectangle 17493"/>
          <p:cNvSpPr/>
          <p:nvPr/>
        </p:nvSpPr>
        <p:spPr>
          <a:xfrm>
            <a:off x="6282798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5" name="Rectangle 17494"/>
          <p:cNvSpPr/>
          <p:nvPr/>
        </p:nvSpPr>
        <p:spPr>
          <a:xfrm>
            <a:off x="6350290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6" name="Rectangle 17495"/>
          <p:cNvSpPr/>
          <p:nvPr/>
        </p:nvSpPr>
        <p:spPr>
          <a:xfrm>
            <a:off x="6417781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7" name="Rectangle 17496"/>
          <p:cNvSpPr/>
          <p:nvPr/>
        </p:nvSpPr>
        <p:spPr>
          <a:xfrm>
            <a:off x="6485273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8" name="Rectangle 17497"/>
          <p:cNvSpPr/>
          <p:nvPr/>
        </p:nvSpPr>
        <p:spPr>
          <a:xfrm>
            <a:off x="6552764" y="327616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9" name="Rectangle 17498"/>
          <p:cNvSpPr/>
          <p:nvPr/>
        </p:nvSpPr>
        <p:spPr>
          <a:xfrm>
            <a:off x="5202936" y="341114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0" name="Rectangle 17499"/>
          <p:cNvSpPr/>
          <p:nvPr/>
        </p:nvSpPr>
        <p:spPr>
          <a:xfrm>
            <a:off x="5405410" y="341114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1" name="Rectangle 17500"/>
          <p:cNvSpPr/>
          <p:nvPr/>
        </p:nvSpPr>
        <p:spPr>
          <a:xfrm>
            <a:off x="5472901" y="341114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2" name="Rectangle 17501"/>
          <p:cNvSpPr/>
          <p:nvPr/>
        </p:nvSpPr>
        <p:spPr>
          <a:xfrm>
            <a:off x="6080324" y="341114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3" name="Rectangle 17502"/>
          <p:cNvSpPr/>
          <p:nvPr/>
        </p:nvSpPr>
        <p:spPr>
          <a:xfrm>
            <a:off x="6552764" y="341114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4" name="Rectangle 17503"/>
          <p:cNvSpPr/>
          <p:nvPr/>
        </p:nvSpPr>
        <p:spPr>
          <a:xfrm>
            <a:off x="5270427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5" name="Rectangle 17504"/>
          <p:cNvSpPr/>
          <p:nvPr/>
        </p:nvSpPr>
        <p:spPr>
          <a:xfrm>
            <a:off x="5337918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6" name="Rectangle 17505"/>
          <p:cNvSpPr/>
          <p:nvPr/>
        </p:nvSpPr>
        <p:spPr>
          <a:xfrm>
            <a:off x="5405410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7" name="Rectangle 17506"/>
          <p:cNvSpPr/>
          <p:nvPr/>
        </p:nvSpPr>
        <p:spPr>
          <a:xfrm>
            <a:off x="5472901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8" name="Rectangle 17507"/>
          <p:cNvSpPr/>
          <p:nvPr/>
        </p:nvSpPr>
        <p:spPr>
          <a:xfrm>
            <a:off x="5607884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9" name="Rectangle 17508"/>
          <p:cNvSpPr/>
          <p:nvPr/>
        </p:nvSpPr>
        <p:spPr>
          <a:xfrm>
            <a:off x="5675376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0" name="Rectangle 17509"/>
          <p:cNvSpPr/>
          <p:nvPr/>
        </p:nvSpPr>
        <p:spPr>
          <a:xfrm>
            <a:off x="5742867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1" name="Rectangle 17510"/>
          <p:cNvSpPr/>
          <p:nvPr/>
        </p:nvSpPr>
        <p:spPr>
          <a:xfrm>
            <a:off x="5810358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2" name="Rectangle 17511"/>
          <p:cNvSpPr/>
          <p:nvPr/>
        </p:nvSpPr>
        <p:spPr>
          <a:xfrm>
            <a:off x="5945341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3" name="Rectangle 17512"/>
          <p:cNvSpPr/>
          <p:nvPr/>
        </p:nvSpPr>
        <p:spPr>
          <a:xfrm>
            <a:off x="6147816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4" name="Rectangle 17513"/>
          <p:cNvSpPr/>
          <p:nvPr/>
        </p:nvSpPr>
        <p:spPr>
          <a:xfrm>
            <a:off x="6215307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5" name="Rectangle 17514"/>
          <p:cNvSpPr/>
          <p:nvPr/>
        </p:nvSpPr>
        <p:spPr>
          <a:xfrm>
            <a:off x="6417781" y="347863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6" name="Rectangle 17515"/>
          <p:cNvSpPr/>
          <p:nvPr/>
        </p:nvSpPr>
        <p:spPr>
          <a:xfrm>
            <a:off x="5337918" y="354613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7" name="Rectangle 17516"/>
          <p:cNvSpPr/>
          <p:nvPr/>
        </p:nvSpPr>
        <p:spPr>
          <a:xfrm>
            <a:off x="5405410" y="354613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8" name="Rectangle 17517"/>
          <p:cNvSpPr/>
          <p:nvPr/>
        </p:nvSpPr>
        <p:spPr>
          <a:xfrm>
            <a:off x="5540393" y="354613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9" name="Rectangle 17518"/>
          <p:cNvSpPr/>
          <p:nvPr/>
        </p:nvSpPr>
        <p:spPr>
          <a:xfrm>
            <a:off x="5675376" y="354613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0" name="Rectangle 17519"/>
          <p:cNvSpPr/>
          <p:nvPr/>
        </p:nvSpPr>
        <p:spPr>
          <a:xfrm>
            <a:off x="5742867" y="354613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1" name="Rectangle 17520"/>
          <p:cNvSpPr/>
          <p:nvPr/>
        </p:nvSpPr>
        <p:spPr>
          <a:xfrm>
            <a:off x="5945341" y="354613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2" name="Rectangle 17521"/>
          <p:cNvSpPr/>
          <p:nvPr/>
        </p:nvSpPr>
        <p:spPr>
          <a:xfrm>
            <a:off x="6080324" y="354613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3" name="Rectangle 17522"/>
          <p:cNvSpPr/>
          <p:nvPr/>
        </p:nvSpPr>
        <p:spPr>
          <a:xfrm>
            <a:off x="6417781" y="354613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4" name="Rectangle 17523"/>
          <p:cNvSpPr/>
          <p:nvPr/>
        </p:nvSpPr>
        <p:spPr>
          <a:xfrm>
            <a:off x="6552764" y="354613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5" name="Rectangle 17524"/>
          <p:cNvSpPr/>
          <p:nvPr/>
        </p:nvSpPr>
        <p:spPr>
          <a:xfrm>
            <a:off x="5405410" y="361362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6" name="Rectangle 17525"/>
          <p:cNvSpPr/>
          <p:nvPr/>
        </p:nvSpPr>
        <p:spPr>
          <a:xfrm>
            <a:off x="5472901" y="361362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7" name="Rectangle 17526"/>
          <p:cNvSpPr/>
          <p:nvPr/>
        </p:nvSpPr>
        <p:spPr>
          <a:xfrm>
            <a:off x="5945341" y="361362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8" name="Rectangle 17527"/>
          <p:cNvSpPr/>
          <p:nvPr/>
        </p:nvSpPr>
        <p:spPr>
          <a:xfrm>
            <a:off x="6147816" y="361362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9" name="Rectangle 17528"/>
          <p:cNvSpPr/>
          <p:nvPr/>
        </p:nvSpPr>
        <p:spPr>
          <a:xfrm>
            <a:off x="6215307" y="361362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0" name="Rectangle 17529"/>
          <p:cNvSpPr/>
          <p:nvPr/>
        </p:nvSpPr>
        <p:spPr>
          <a:xfrm>
            <a:off x="6282798" y="361362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1" name="Rectangle 17530"/>
          <p:cNvSpPr/>
          <p:nvPr/>
        </p:nvSpPr>
        <p:spPr>
          <a:xfrm>
            <a:off x="6350290" y="361362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2" name="Rectangle 17531"/>
          <p:cNvSpPr/>
          <p:nvPr/>
        </p:nvSpPr>
        <p:spPr>
          <a:xfrm>
            <a:off x="5472901" y="368111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3" name="Rectangle 17532"/>
          <p:cNvSpPr/>
          <p:nvPr/>
        </p:nvSpPr>
        <p:spPr>
          <a:xfrm>
            <a:off x="5540393" y="368111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4" name="Rectangle 17533"/>
          <p:cNvSpPr/>
          <p:nvPr/>
        </p:nvSpPr>
        <p:spPr>
          <a:xfrm>
            <a:off x="5607884" y="368111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5" name="Rectangle 17534"/>
          <p:cNvSpPr/>
          <p:nvPr/>
        </p:nvSpPr>
        <p:spPr>
          <a:xfrm>
            <a:off x="5675376" y="368111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6" name="Rectangle 17535"/>
          <p:cNvSpPr/>
          <p:nvPr/>
        </p:nvSpPr>
        <p:spPr>
          <a:xfrm>
            <a:off x="6147816" y="368111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7" name="Rectangle 17536"/>
          <p:cNvSpPr/>
          <p:nvPr/>
        </p:nvSpPr>
        <p:spPr>
          <a:xfrm>
            <a:off x="6552764" y="368111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8" name="Rectangle 17537"/>
          <p:cNvSpPr/>
          <p:nvPr/>
        </p:nvSpPr>
        <p:spPr>
          <a:xfrm>
            <a:off x="5742867" y="374860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9" name="Rectangle 17538"/>
          <p:cNvSpPr/>
          <p:nvPr/>
        </p:nvSpPr>
        <p:spPr>
          <a:xfrm>
            <a:off x="5810358" y="374860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0" name="Rectangle 17539"/>
          <p:cNvSpPr/>
          <p:nvPr/>
        </p:nvSpPr>
        <p:spPr>
          <a:xfrm>
            <a:off x="5877850" y="374860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1" name="Rectangle 17540"/>
          <p:cNvSpPr/>
          <p:nvPr/>
        </p:nvSpPr>
        <p:spPr>
          <a:xfrm>
            <a:off x="6080324" y="374860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2" name="Rectangle 17541"/>
          <p:cNvSpPr/>
          <p:nvPr/>
        </p:nvSpPr>
        <p:spPr>
          <a:xfrm>
            <a:off x="6485273" y="374860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3" name="Rectangle 17542"/>
          <p:cNvSpPr/>
          <p:nvPr/>
        </p:nvSpPr>
        <p:spPr>
          <a:xfrm>
            <a:off x="6552764" y="374860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4" name="Rectangle 17543"/>
          <p:cNvSpPr/>
          <p:nvPr/>
        </p:nvSpPr>
        <p:spPr>
          <a:xfrm>
            <a:off x="5202936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5" name="Rectangle 17544"/>
          <p:cNvSpPr/>
          <p:nvPr/>
        </p:nvSpPr>
        <p:spPr>
          <a:xfrm>
            <a:off x="5270427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6" name="Rectangle 17545"/>
          <p:cNvSpPr/>
          <p:nvPr/>
        </p:nvSpPr>
        <p:spPr>
          <a:xfrm>
            <a:off x="5337918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7" name="Rectangle 17546"/>
          <p:cNvSpPr/>
          <p:nvPr/>
        </p:nvSpPr>
        <p:spPr>
          <a:xfrm>
            <a:off x="5405410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8" name="Rectangle 17547"/>
          <p:cNvSpPr/>
          <p:nvPr/>
        </p:nvSpPr>
        <p:spPr>
          <a:xfrm>
            <a:off x="5472901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9" name="Rectangle 17548"/>
          <p:cNvSpPr/>
          <p:nvPr/>
        </p:nvSpPr>
        <p:spPr>
          <a:xfrm>
            <a:off x="5540393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0" name="Rectangle 17549"/>
          <p:cNvSpPr/>
          <p:nvPr/>
        </p:nvSpPr>
        <p:spPr>
          <a:xfrm>
            <a:off x="5607884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1" name="Rectangle 17550"/>
          <p:cNvSpPr/>
          <p:nvPr/>
        </p:nvSpPr>
        <p:spPr>
          <a:xfrm>
            <a:off x="6147816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2" name="Rectangle 17551"/>
          <p:cNvSpPr/>
          <p:nvPr/>
        </p:nvSpPr>
        <p:spPr>
          <a:xfrm>
            <a:off x="6215307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3" name="Rectangle 17552"/>
          <p:cNvSpPr/>
          <p:nvPr/>
        </p:nvSpPr>
        <p:spPr>
          <a:xfrm>
            <a:off x="6282798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4" name="Rectangle 17553"/>
          <p:cNvSpPr/>
          <p:nvPr/>
        </p:nvSpPr>
        <p:spPr>
          <a:xfrm>
            <a:off x="6350290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5" name="Rectangle 17554"/>
          <p:cNvSpPr/>
          <p:nvPr/>
        </p:nvSpPr>
        <p:spPr>
          <a:xfrm>
            <a:off x="6485273" y="3816096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6" name="Rectangle 17555"/>
          <p:cNvSpPr/>
          <p:nvPr/>
        </p:nvSpPr>
        <p:spPr>
          <a:xfrm>
            <a:off x="5202936" y="388358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7" name="Rectangle 17556"/>
          <p:cNvSpPr/>
          <p:nvPr/>
        </p:nvSpPr>
        <p:spPr>
          <a:xfrm>
            <a:off x="5607884" y="388358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8" name="Rectangle 17557"/>
          <p:cNvSpPr/>
          <p:nvPr/>
        </p:nvSpPr>
        <p:spPr>
          <a:xfrm>
            <a:off x="6080324" y="388358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9" name="Rectangle 17558"/>
          <p:cNvSpPr/>
          <p:nvPr/>
        </p:nvSpPr>
        <p:spPr>
          <a:xfrm>
            <a:off x="6215307" y="388358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0" name="Rectangle 17559"/>
          <p:cNvSpPr/>
          <p:nvPr/>
        </p:nvSpPr>
        <p:spPr>
          <a:xfrm>
            <a:off x="6282798" y="388358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1" name="Rectangle 17560"/>
          <p:cNvSpPr/>
          <p:nvPr/>
        </p:nvSpPr>
        <p:spPr>
          <a:xfrm>
            <a:off x="6417781" y="3883587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2" name="Rectangle 17561"/>
          <p:cNvSpPr/>
          <p:nvPr/>
        </p:nvSpPr>
        <p:spPr>
          <a:xfrm>
            <a:off x="5202936" y="395107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3" name="Rectangle 17562"/>
          <p:cNvSpPr/>
          <p:nvPr/>
        </p:nvSpPr>
        <p:spPr>
          <a:xfrm>
            <a:off x="5337918" y="395107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4" name="Rectangle 17563"/>
          <p:cNvSpPr/>
          <p:nvPr/>
        </p:nvSpPr>
        <p:spPr>
          <a:xfrm>
            <a:off x="5405410" y="395107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5" name="Rectangle 17564"/>
          <p:cNvSpPr/>
          <p:nvPr/>
        </p:nvSpPr>
        <p:spPr>
          <a:xfrm>
            <a:off x="5472901" y="395107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6" name="Rectangle 17565"/>
          <p:cNvSpPr/>
          <p:nvPr/>
        </p:nvSpPr>
        <p:spPr>
          <a:xfrm>
            <a:off x="5607884" y="395107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7" name="Rectangle 17566"/>
          <p:cNvSpPr/>
          <p:nvPr/>
        </p:nvSpPr>
        <p:spPr>
          <a:xfrm>
            <a:off x="5877850" y="395107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8" name="Rectangle 17567"/>
          <p:cNvSpPr/>
          <p:nvPr/>
        </p:nvSpPr>
        <p:spPr>
          <a:xfrm>
            <a:off x="6012833" y="395107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9" name="Rectangle 17568"/>
          <p:cNvSpPr/>
          <p:nvPr/>
        </p:nvSpPr>
        <p:spPr>
          <a:xfrm>
            <a:off x="6080324" y="3951078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0" name="Rectangle 17569"/>
          <p:cNvSpPr/>
          <p:nvPr/>
        </p:nvSpPr>
        <p:spPr>
          <a:xfrm>
            <a:off x="5202936" y="401857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1" name="Rectangle 17570"/>
          <p:cNvSpPr/>
          <p:nvPr/>
        </p:nvSpPr>
        <p:spPr>
          <a:xfrm>
            <a:off x="5337918" y="401857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2" name="Rectangle 17571"/>
          <p:cNvSpPr/>
          <p:nvPr/>
        </p:nvSpPr>
        <p:spPr>
          <a:xfrm>
            <a:off x="5405410" y="401857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3" name="Rectangle 17572"/>
          <p:cNvSpPr/>
          <p:nvPr/>
        </p:nvSpPr>
        <p:spPr>
          <a:xfrm>
            <a:off x="5472901" y="401857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4" name="Rectangle 17573"/>
          <p:cNvSpPr/>
          <p:nvPr/>
        </p:nvSpPr>
        <p:spPr>
          <a:xfrm>
            <a:off x="5607884" y="401857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5" name="Rectangle 17574"/>
          <p:cNvSpPr/>
          <p:nvPr/>
        </p:nvSpPr>
        <p:spPr>
          <a:xfrm>
            <a:off x="6215307" y="401857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6" name="Rectangle 17575"/>
          <p:cNvSpPr/>
          <p:nvPr/>
        </p:nvSpPr>
        <p:spPr>
          <a:xfrm>
            <a:off x="6485273" y="401857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7" name="Rectangle 17576"/>
          <p:cNvSpPr/>
          <p:nvPr/>
        </p:nvSpPr>
        <p:spPr>
          <a:xfrm>
            <a:off x="6552764" y="4018570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8" name="Rectangle 17577"/>
          <p:cNvSpPr/>
          <p:nvPr/>
        </p:nvSpPr>
        <p:spPr>
          <a:xfrm>
            <a:off x="5202936" y="408606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79" name="Rectangle 17578"/>
          <p:cNvSpPr/>
          <p:nvPr/>
        </p:nvSpPr>
        <p:spPr>
          <a:xfrm>
            <a:off x="5337918" y="408606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0" name="Rectangle 17579"/>
          <p:cNvSpPr/>
          <p:nvPr/>
        </p:nvSpPr>
        <p:spPr>
          <a:xfrm>
            <a:off x="5405410" y="408606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1" name="Rectangle 17580"/>
          <p:cNvSpPr/>
          <p:nvPr/>
        </p:nvSpPr>
        <p:spPr>
          <a:xfrm>
            <a:off x="5472901" y="408606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2" name="Rectangle 17581"/>
          <p:cNvSpPr/>
          <p:nvPr/>
        </p:nvSpPr>
        <p:spPr>
          <a:xfrm>
            <a:off x="5607884" y="408606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3" name="Rectangle 17582"/>
          <p:cNvSpPr/>
          <p:nvPr/>
        </p:nvSpPr>
        <p:spPr>
          <a:xfrm>
            <a:off x="5742867" y="408606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4" name="Rectangle 17583"/>
          <p:cNvSpPr/>
          <p:nvPr/>
        </p:nvSpPr>
        <p:spPr>
          <a:xfrm>
            <a:off x="6012833" y="408606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5" name="Rectangle 17584"/>
          <p:cNvSpPr/>
          <p:nvPr/>
        </p:nvSpPr>
        <p:spPr>
          <a:xfrm>
            <a:off x="6215307" y="408606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6" name="Rectangle 17585"/>
          <p:cNvSpPr/>
          <p:nvPr/>
        </p:nvSpPr>
        <p:spPr>
          <a:xfrm>
            <a:off x="6417781" y="4086061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7" name="Rectangle 17586"/>
          <p:cNvSpPr/>
          <p:nvPr/>
        </p:nvSpPr>
        <p:spPr>
          <a:xfrm>
            <a:off x="5202936" y="415355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8" name="Rectangle 17587"/>
          <p:cNvSpPr/>
          <p:nvPr/>
        </p:nvSpPr>
        <p:spPr>
          <a:xfrm>
            <a:off x="5607884" y="415355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9" name="Rectangle 17588"/>
          <p:cNvSpPr/>
          <p:nvPr/>
        </p:nvSpPr>
        <p:spPr>
          <a:xfrm>
            <a:off x="5742867" y="415355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0" name="Rectangle 17589"/>
          <p:cNvSpPr/>
          <p:nvPr/>
        </p:nvSpPr>
        <p:spPr>
          <a:xfrm>
            <a:off x="5810358" y="415355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1" name="Rectangle 17590"/>
          <p:cNvSpPr/>
          <p:nvPr/>
        </p:nvSpPr>
        <p:spPr>
          <a:xfrm>
            <a:off x="5877850" y="415355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2" name="Rectangle 17591"/>
          <p:cNvSpPr/>
          <p:nvPr/>
        </p:nvSpPr>
        <p:spPr>
          <a:xfrm>
            <a:off x="6012833" y="415355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3" name="Rectangle 17592"/>
          <p:cNvSpPr/>
          <p:nvPr/>
        </p:nvSpPr>
        <p:spPr>
          <a:xfrm>
            <a:off x="6215307" y="415355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4" name="Rectangle 17593"/>
          <p:cNvSpPr/>
          <p:nvPr/>
        </p:nvSpPr>
        <p:spPr>
          <a:xfrm>
            <a:off x="6282798" y="415355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5" name="Rectangle 17594"/>
          <p:cNvSpPr/>
          <p:nvPr/>
        </p:nvSpPr>
        <p:spPr>
          <a:xfrm>
            <a:off x="6485273" y="4153553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6" name="Rectangle 17595"/>
          <p:cNvSpPr/>
          <p:nvPr/>
        </p:nvSpPr>
        <p:spPr>
          <a:xfrm>
            <a:off x="5202936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7" name="Rectangle 17596"/>
          <p:cNvSpPr/>
          <p:nvPr/>
        </p:nvSpPr>
        <p:spPr>
          <a:xfrm>
            <a:off x="5270427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8" name="Rectangle 17597"/>
          <p:cNvSpPr/>
          <p:nvPr/>
        </p:nvSpPr>
        <p:spPr>
          <a:xfrm>
            <a:off x="5337918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9" name="Rectangle 17598"/>
          <p:cNvSpPr/>
          <p:nvPr/>
        </p:nvSpPr>
        <p:spPr>
          <a:xfrm>
            <a:off x="5405410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0" name="Rectangle 17599"/>
          <p:cNvSpPr/>
          <p:nvPr/>
        </p:nvSpPr>
        <p:spPr>
          <a:xfrm>
            <a:off x="5472901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1" name="Rectangle 17600"/>
          <p:cNvSpPr/>
          <p:nvPr/>
        </p:nvSpPr>
        <p:spPr>
          <a:xfrm>
            <a:off x="5540393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2" name="Rectangle 17601"/>
          <p:cNvSpPr/>
          <p:nvPr/>
        </p:nvSpPr>
        <p:spPr>
          <a:xfrm>
            <a:off x="5607884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3" name="Rectangle 17602"/>
          <p:cNvSpPr/>
          <p:nvPr/>
        </p:nvSpPr>
        <p:spPr>
          <a:xfrm>
            <a:off x="5810358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4" name="Rectangle 17603"/>
          <p:cNvSpPr/>
          <p:nvPr/>
        </p:nvSpPr>
        <p:spPr>
          <a:xfrm>
            <a:off x="5877850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5" name="Rectangle 17604"/>
          <p:cNvSpPr/>
          <p:nvPr/>
        </p:nvSpPr>
        <p:spPr>
          <a:xfrm>
            <a:off x="5945341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6" name="Rectangle 17605"/>
          <p:cNvSpPr/>
          <p:nvPr/>
        </p:nvSpPr>
        <p:spPr>
          <a:xfrm>
            <a:off x="6080324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7" name="Rectangle 17606"/>
          <p:cNvSpPr/>
          <p:nvPr/>
        </p:nvSpPr>
        <p:spPr>
          <a:xfrm>
            <a:off x="6147816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8" name="Rectangle 17607"/>
          <p:cNvSpPr/>
          <p:nvPr/>
        </p:nvSpPr>
        <p:spPr>
          <a:xfrm>
            <a:off x="6417781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9" name="Rectangle 17608"/>
          <p:cNvSpPr/>
          <p:nvPr/>
        </p:nvSpPr>
        <p:spPr>
          <a:xfrm>
            <a:off x="6485273" y="4221044"/>
            <a:ext cx="69320" cy="69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10" name="TextBox 17609"/>
          <p:cNvSpPr txBox="1"/>
          <p:nvPr/>
        </p:nvSpPr>
        <p:spPr>
          <a:xfrm>
            <a:off x="4663440" y="4292995"/>
            <a:ext cx="2889504" cy="33855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endParaRPr lang="en-US" sz="860" b="1" dirty="0">
              <a:solidFill>
                <a:srgbClr val="F28C28"/>
              </a:solidFill>
              <a:latin typeface="Aptos"/>
            </a:endParaRPr>
          </a:p>
          <a:p>
            <a:pPr algn="ctr"/>
            <a:endParaRPr sz="860" b="1" i="0" dirty="0">
              <a:solidFill>
                <a:srgbClr val="F28C28"/>
              </a:solidFill>
              <a:latin typeface="Aptos"/>
            </a:endParaRPr>
          </a:p>
        </p:txBody>
      </p:sp>
      <p:sp>
        <p:nvSpPr>
          <p:cNvPr id="17611" name="TextBox 17610"/>
          <p:cNvSpPr txBox="1"/>
          <p:nvPr/>
        </p:nvSpPr>
        <p:spPr>
          <a:xfrm>
            <a:off x="4590288" y="4590288"/>
            <a:ext cx="3035808" cy="182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780" b="1" i="0">
                <a:solidFill>
                  <a:srgbClr val="526273"/>
                </a:solidFill>
                <a:latin typeface="Aptos"/>
              </a:rPr>
              <a:t>LIVE DEMO  •  GITHUB  •  API DOCS</a:t>
            </a:r>
          </a:p>
        </p:txBody>
      </p:sp>
      <p:sp>
        <p:nvSpPr>
          <p:cNvPr id="17613" name="TextBox 17612"/>
          <p:cNvSpPr txBox="1"/>
          <p:nvPr/>
        </p:nvSpPr>
        <p:spPr>
          <a:xfrm>
            <a:off x="512064" y="4923024"/>
            <a:ext cx="3493008" cy="22775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 dirty="0">
                <a:solidFill>
                  <a:srgbClr val="173F70"/>
                </a:solidFill>
                <a:latin typeface="Aptos"/>
              </a:rPr>
              <a:t>DPIIT / PM </a:t>
            </a:r>
            <a:r>
              <a:rPr sz="1000" b="1" i="0" dirty="0" err="1">
                <a:solidFill>
                  <a:srgbClr val="173F70"/>
                </a:solidFill>
                <a:latin typeface="Aptos"/>
              </a:rPr>
              <a:t>GatiShakti</a:t>
            </a:r>
            <a:r>
              <a:rPr sz="1000" b="1" i="0" dirty="0">
                <a:solidFill>
                  <a:srgbClr val="173F70"/>
                </a:solidFill>
                <a:latin typeface="Aptos"/>
              </a:rPr>
              <a:t> + NLP</a:t>
            </a:r>
          </a:p>
        </p:txBody>
      </p:sp>
      <p:sp>
        <p:nvSpPr>
          <p:cNvPr id="17614" name="TextBox 17613"/>
          <p:cNvSpPr txBox="1"/>
          <p:nvPr/>
        </p:nvSpPr>
        <p:spPr>
          <a:xfrm>
            <a:off x="502920" y="5071551"/>
            <a:ext cx="3493008" cy="3816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https://www.dpiit.gov.in/offerings/schemes-and-services/details/pm-gati-shakti-kjNyATMtQWa</a:t>
            </a:r>
          </a:p>
        </p:txBody>
      </p:sp>
      <p:sp>
        <p:nvSpPr>
          <p:cNvPr id="17615" name="TextBox 17614"/>
          <p:cNvSpPr txBox="1"/>
          <p:nvPr/>
        </p:nvSpPr>
        <p:spPr>
          <a:xfrm>
            <a:off x="4270248" y="4983903"/>
            <a:ext cx="3493008" cy="22775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 dirty="0">
                <a:solidFill>
                  <a:srgbClr val="173F70"/>
                </a:solidFill>
                <a:latin typeface="Aptos"/>
              </a:rPr>
              <a:t>ULIP</a:t>
            </a:r>
          </a:p>
        </p:txBody>
      </p:sp>
      <p:sp>
        <p:nvSpPr>
          <p:cNvPr id="17616" name="TextBox 17615"/>
          <p:cNvSpPr txBox="1"/>
          <p:nvPr/>
        </p:nvSpPr>
        <p:spPr>
          <a:xfrm>
            <a:off x="4270248" y="5148072"/>
            <a:ext cx="3493008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https://goulip.in/</a:t>
            </a:r>
          </a:p>
        </p:txBody>
      </p:sp>
      <p:sp>
        <p:nvSpPr>
          <p:cNvPr id="17617" name="TextBox 17616"/>
          <p:cNvSpPr txBox="1"/>
          <p:nvPr/>
        </p:nvSpPr>
        <p:spPr>
          <a:xfrm>
            <a:off x="8037576" y="4983903"/>
            <a:ext cx="3493008" cy="227755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i="0" dirty="0">
                <a:solidFill>
                  <a:srgbClr val="173F70"/>
                </a:solidFill>
                <a:latin typeface="Aptos"/>
              </a:rPr>
              <a:t>Delhi GTFS / OTD</a:t>
            </a:r>
          </a:p>
        </p:txBody>
      </p:sp>
      <p:sp>
        <p:nvSpPr>
          <p:cNvPr id="17618" name="TextBox 17617"/>
          <p:cNvSpPr txBox="1"/>
          <p:nvPr/>
        </p:nvSpPr>
        <p:spPr>
          <a:xfrm>
            <a:off x="8037576" y="5148072"/>
            <a:ext cx="3493008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i="0" dirty="0">
                <a:solidFill>
                  <a:srgbClr val="526273"/>
                </a:solidFill>
                <a:latin typeface="Aptos"/>
              </a:rPr>
              <a:t>https://otd.delhi.gov.in/documentation/</a:t>
            </a:r>
          </a:p>
        </p:txBody>
      </p:sp>
      <p:sp>
        <p:nvSpPr>
          <p:cNvPr id="17619" name="TextBox 17618"/>
          <p:cNvSpPr txBox="1"/>
          <p:nvPr/>
        </p:nvSpPr>
        <p:spPr>
          <a:xfrm>
            <a:off x="502920" y="5437256"/>
            <a:ext cx="3493008" cy="23544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50" b="1" i="0" dirty="0">
                <a:solidFill>
                  <a:srgbClr val="173F70"/>
                </a:solidFill>
                <a:latin typeface="Aptos"/>
              </a:rPr>
              <a:t>Kochi GTFS</a:t>
            </a:r>
          </a:p>
        </p:txBody>
      </p:sp>
      <p:sp>
        <p:nvSpPr>
          <p:cNvPr id="17620" name="TextBox 17619"/>
          <p:cNvSpPr txBox="1"/>
          <p:nvPr/>
        </p:nvSpPr>
        <p:spPr>
          <a:xfrm>
            <a:off x="502920" y="5613389"/>
            <a:ext cx="3493008" cy="21236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 dirty="0">
                <a:solidFill>
                  <a:srgbClr val="526273"/>
                </a:solidFill>
                <a:latin typeface="Aptos"/>
              </a:rPr>
              <a:t>https://corporate.kochimetro.org/open-data</a:t>
            </a:r>
          </a:p>
        </p:txBody>
      </p:sp>
      <p:sp>
        <p:nvSpPr>
          <p:cNvPr id="17621" name="TextBox 17620"/>
          <p:cNvSpPr txBox="1"/>
          <p:nvPr/>
        </p:nvSpPr>
        <p:spPr>
          <a:xfrm>
            <a:off x="4270248" y="5437256"/>
            <a:ext cx="3493008" cy="23544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50" b="1" i="0" dirty="0">
                <a:solidFill>
                  <a:srgbClr val="173F70"/>
                </a:solidFill>
                <a:latin typeface="Aptos"/>
              </a:rPr>
              <a:t>OSRM API</a:t>
            </a:r>
          </a:p>
        </p:txBody>
      </p:sp>
      <p:sp>
        <p:nvSpPr>
          <p:cNvPr id="17622" name="TextBox 17621"/>
          <p:cNvSpPr txBox="1"/>
          <p:nvPr/>
        </p:nvSpPr>
        <p:spPr>
          <a:xfrm>
            <a:off x="4270248" y="5613389"/>
            <a:ext cx="3493008" cy="21236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 dirty="0">
                <a:solidFill>
                  <a:srgbClr val="526273"/>
                </a:solidFill>
                <a:latin typeface="Aptos"/>
              </a:rPr>
              <a:t>https://project-osrm.org/docs/</a:t>
            </a:r>
          </a:p>
        </p:txBody>
      </p:sp>
      <p:sp>
        <p:nvSpPr>
          <p:cNvPr id="17623" name="TextBox 17622"/>
          <p:cNvSpPr txBox="1"/>
          <p:nvPr/>
        </p:nvSpPr>
        <p:spPr>
          <a:xfrm>
            <a:off x="8037576" y="5437256"/>
            <a:ext cx="3493008" cy="235449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50" b="1" i="0" dirty="0">
                <a:solidFill>
                  <a:srgbClr val="173F70"/>
                </a:solidFill>
                <a:latin typeface="Aptos"/>
              </a:rPr>
              <a:t>OR-Tools</a:t>
            </a:r>
          </a:p>
        </p:txBody>
      </p:sp>
      <p:sp>
        <p:nvSpPr>
          <p:cNvPr id="17624" name="TextBox 17623"/>
          <p:cNvSpPr txBox="1"/>
          <p:nvPr/>
        </p:nvSpPr>
        <p:spPr>
          <a:xfrm>
            <a:off x="8037576" y="5613389"/>
            <a:ext cx="3493008" cy="21236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0" i="0" dirty="0">
                <a:solidFill>
                  <a:srgbClr val="526273"/>
                </a:solidFill>
                <a:latin typeface="Aptos"/>
              </a:rPr>
              <a:t>https://developers.google.com/optimization/routing</a:t>
            </a:r>
          </a:p>
        </p:txBody>
      </p:sp>
      <p:sp>
        <p:nvSpPr>
          <p:cNvPr id="17625" name="TextBox 17624"/>
          <p:cNvSpPr txBox="1"/>
          <p:nvPr/>
        </p:nvSpPr>
        <p:spPr>
          <a:xfrm>
            <a:off x="512064" y="5860345"/>
            <a:ext cx="11109960" cy="243143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 dirty="0">
                <a:solidFill>
                  <a:srgbClr val="526273"/>
                </a:solidFill>
                <a:latin typeface="Aptos"/>
              </a:rPr>
              <a:t>ULIP direct access is authorization-gated. Adapter schema is a concrete technical artefact; no production-access claim. Pilot evidence: matched baseline vs </a:t>
            </a:r>
            <a:r>
              <a:rPr sz="1100" b="1" i="0" dirty="0" err="1">
                <a:solidFill>
                  <a:srgbClr val="526273"/>
                </a:solidFill>
                <a:latin typeface="Aptos"/>
              </a:rPr>
              <a:t>NexFlow</a:t>
            </a:r>
            <a:r>
              <a:rPr sz="1100" b="1" i="0" dirty="0">
                <a:solidFill>
                  <a:srgbClr val="526273"/>
                </a:solidFill>
                <a:latin typeface="Aptos"/>
              </a:rPr>
              <a:t> + road-closure replay.</a:t>
            </a:r>
          </a:p>
        </p:txBody>
      </p:sp>
      <p:sp>
        <p:nvSpPr>
          <p:cNvPr id="17626" name="TextBox 17625"/>
          <p:cNvSpPr txBox="1"/>
          <p:nvPr/>
        </p:nvSpPr>
        <p:spPr>
          <a:xfrm>
            <a:off x="502920" y="6160882"/>
            <a:ext cx="11109960" cy="212366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 FORMULATION  |  min Σ(α·delay + β·</a:t>
            </a:r>
            <a:r>
              <a:rPr sz="900" b="1" i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curb_wait</a:t>
            </a:r>
            <a:r>
              <a:rPr sz="900" b="1" i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900" b="1" i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γ·late</a:t>
            </a:r>
            <a:r>
              <a:rPr sz="900" b="1" i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900" b="1" i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δ·distance</a:t>
            </a:r>
            <a:r>
              <a:rPr sz="900" b="1" i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900" b="1" i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ε·reroute</a:t>
            </a:r>
            <a:r>
              <a:rPr sz="900" b="1" i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sz="900" b="1" i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sz="900" b="1" i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capacity, delivery windows, bay exclusivity, fleet limits, road-closure feasibility; binary x(</a:t>
            </a:r>
            <a:r>
              <a:rPr sz="900" b="1" i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v,r</a:t>
            </a:r>
            <a:r>
              <a:rPr sz="900" b="1" i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y(</a:t>
            </a:r>
            <a:r>
              <a:rPr sz="900" b="1" i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v,b,t</a:t>
            </a:r>
            <a:r>
              <a:rPr sz="900" b="1" i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u(</a:t>
            </a:r>
            <a:r>
              <a:rPr sz="900" b="1" i="0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v,j</a:t>
            </a:r>
            <a:r>
              <a:rPr sz="900" b="1" i="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B20CB0-04C7-4B84-9F07-C465C8589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009" y="2852928"/>
            <a:ext cx="1525132" cy="14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7702</TotalTime>
  <Words>1300</Words>
  <Application>Microsoft Office PowerPoint</Application>
  <PresentationFormat>Widescreen</PresentationFormat>
  <Paragraphs>199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Georgia</vt:lpstr>
      <vt:lpstr>Times New Roman</vt:lpstr>
      <vt:lpstr>TradeGothic</vt:lpstr>
      <vt:lpstr>Office Theme</vt:lpstr>
      <vt:lpstr>SMART INDIA HACKATHON 2026</vt:lpstr>
      <vt:lpstr>PROPOSED SOLUTION &amp; OPTIMIZATION LOGIC</vt:lpstr>
      <vt:lpstr>TECHNICAL APPROACH</vt:lpstr>
      <vt:lpstr>FEASIBILITY &amp; VIABILITY</vt:lpstr>
      <vt:lpstr>IMPACT &amp; BENEFITS</vt:lpstr>
      <vt:lpstr>RESEARCH, REFERENCES &amp; ACCESS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AKASH</cp:lastModifiedBy>
  <cp:revision>176</cp:revision>
  <dcterms:created xsi:type="dcterms:W3CDTF">2013-12-12T18:46:50Z</dcterms:created>
  <dcterms:modified xsi:type="dcterms:W3CDTF">2026-08-31T17:22:28Z</dcterms:modified>
  <cp:category/>
</cp:coreProperties>
</file>